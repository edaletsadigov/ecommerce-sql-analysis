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0" r:id="rId1"/>
  </p:sldMasterIdLst>
  <p:sldIdLst>
    <p:sldId id="261" r:id="rId2"/>
    <p:sldId id="262" r:id="rId3"/>
    <p:sldId id="263" r:id="rId4"/>
    <p:sldId id="257" r:id="rId5"/>
    <p:sldId id="256" r:id="rId6"/>
    <p:sldId id="258" r:id="rId7"/>
    <p:sldId id="260" r:id="rId8"/>
    <p:sldId id="259" r:id="rId9"/>
    <p:sldId id="265" r:id="rId10"/>
    <p:sldId id="266" r:id="rId11"/>
    <p:sldId id="267" r:id="rId12"/>
    <p:sldId id="264" r:id="rId1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D6E6E"/>
    <a:srgbClr val="004A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Hamburg%20&#304;T\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oleObject" Target="file:///C:\Users\user\Desktop\Hamburg%20&#304;T\1.xlsx" TargetMode="Externa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Hamburg%20&#304;T\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Hamburg%20&#304;T\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Hamburg%20&#304;T\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Hamburg%20&#304;T\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Hamburg%20&#304;T\1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Hamburg%20&#304;T\1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Hamburg%20&#304;T\1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Hamburg%20&#304;T\1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az-Latn-AZ"/>
              <a:t>AYLAR</a:t>
            </a:r>
            <a:r>
              <a:rPr lang="az-Latn-AZ" baseline="0"/>
              <a:t> üzrə satış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6.629100506143331E-3"/>
          <c:y val="0.12142268927888204"/>
          <c:w val="0.96629901960784315"/>
          <c:h val="0.78906595551983982"/>
        </c:manualLayout>
      </c:layout>
      <c:lineChart>
        <c:grouping val="stacked"/>
        <c:varyColors val="0"/>
        <c:ser>
          <c:idx val="1"/>
          <c:order val="0"/>
          <c:tx>
            <c:strRef>
              <c:f>ay_satis!$C$1</c:f>
              <c:strCache>
                <c:ptCount val="1"/>
                <c:pt idx="0">
                  <c:v>UMUMI_SATIS</c:v>
                </c:pt>
              </c:strCache>
            </c:strRef>
          </c:tx>
          <c:spPr>
            <a:ln w="25400" cap="rnd">
              <a:solidFill>
                <a:schemeClr val="lt1"/>
              </a:solidFill>
              <a:round/>
            </a:ln>
            <a:effectLst>
              <a:outerShdw dist="25400" dir="2700000" algn="tl" rotWithShape="0">
                <a:schemeClr val="accent2">
                  <a:tint val="77000"/>
                </a:schemeClr>
              </a:outerShdw>
            </a:effectLst>
          </c:spPr>
          <c:marker>
            <c:symbol val="none"/>
          </c:marker>
          <c:dLbls>
            <c:spPr>
              <a:solidFill>
                <a:schemeClr val="accent2"/>
              </a:solidFill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1" i="0" u="none" strike="noStrik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accent2">
                          <a:lumMod val="60000"/>
                          <a:lumOff val="4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ay_satis!$A$2:$A$13</c:f>
              <c:strCache>
                <c:ptCount val="12"/>
                <c:pt idx="0">
                  <c:v>January  </c:v>
                </c:pt>
                <c:pt idx="1">
                  <c:v>February </c:v>
                </c:pt>
                <c:pt idx="2">
                  <c:v>March    </c:v>
                </c:pt>
                <c:pt idx="3">
                  <c:v>April    </c:v>
                </c:pt>
                <c:pt idx="4">
                  <c:v>May      </c:v>
                </c:pt>
                <c:pt idx="5">
                  <c:v>June     </c:v>
                </c:pt>
                <c:pt idx="6">
                  <c:v>July     </c:v>
                </c:pt>
                <c:pt idx="7">
                  <c:v>August   </c:v>
                </c:pt>
                <c:pt idx="8">
                  <c:v>September</c:v>
                </c:pt>
                <c:pt idx="9">
                  <c:v>October  </c:v>
                </c:pt>
                <c:pt idx="10">
                  <c:v>November </c:v>
                </c:pt>
                <c:pt idx="11">
                  <c:v>December </c:v>
                </c:pt>
              </c:strCache>
            </c:strRef>
          </c:cat>
          <c:val>
            <c:numRef>
              <c:f>ay_satis!$C$2:$C$13</c:f>
              <c:numCache>
                <c:formatCode>General</c:formatCode>
                <c:ptCount val="12"/>
                <c:pt idx="0">
                  <c:v>200891</c:v>
                </c:pt>
                <c:pt idx="1">
                  <c:v>147013</c:v>
                </c:pt>
                <c:pt idx="2">
                  <c:v>210815</c:v>
                </c:pt>
                <c:pt idx="3">
                  <c:v>234546</c:v>
                </c:pt>
                <c:pt idx="4">
                  <c:v>221934</c:v>
                </c:pt>
                <c:pt idx="5">
                  <c:v>164848</c:v>
                </c:pt>
                <c:pt idx="6">
                  <c:v>275568</c:v>
                </c:pt>
                <c:pt idx="7">
                  <c:v>194012</c:v>
                </c:pt>
                <c:pt idx="8">
                  <c:v>223575</c:v>
                </c:pt>
                <c:pt idx="9">
                  <c:v>254295</c:v>
                </c:pt>
                <c:pt idx="10">
                  <c:v>102161</c:v>
                </c:pt>
                <c:pt idx="11">
                  <c:v>138257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6BE3-414D-8213-2005D04FECE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dropLines>
          <c:spPr>
            <a:ln w="9525" cap="flat" cmpd="sng" algn="ctr">
              <a:gradFill>
                <a:gsLst>
                  <a:gs pos="0">
                    <a:schemeClr val="lt1"/>
                  </a:gs>
                  <a:gs pos="100000">
                    <a:schemeClr val="lt1">
                      <a:alpha val="0"/>
                    </a:schemeClr>
                  </a:gs>
                </a:gsLst>
                <a:lin ang="5400000" scaled="0"/>
              </a:gradFill>
              <a:round/>
            </a:ln>
            <a:effectLst/>
          </c:spPr>
        </c:dropLines>
        <c:smooth val="0"/>
        <c:axId val="610189408"/>
        <c:axId val="607023016"/>
      </c:lineChart>
      <c:catAx>
        <c:axId val="61018940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spc="3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7023016"/>
        <c:crosses val="autoZero"/>
        <c:auto val="1"/>
        <c:lblAlgn val="ctr"/>
        <c:lblOffset val="100"/>
        <c:noMultiLvlLbl val="0"/>
      </c:catAx>
      <c:valAx>
        <c:axId val="607023016"/>
        <c:scaling>
          <c:orientation val="minMax"/>
        </c:scaling>
        <c:delete val="1"/>
        <c:axPos val="l"/>
        <c:numFmt formatCode="General" sourceLinked="1"/>
        <c:majorTickMark val="none"/>
        <c:minorTickMark val="none"/>
        <c:tickLblPos val="nextTo"/>
        <c:crossAx val="6101894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accent2"/>
    </a:solidFill>
    <a:ln w="9525" cap="flat" cmpd="sng" algn="ctr">
      <a:solidFill>
        <a:schemeClr val="lt1">
          <a:lumMod val="85000"/>
        </a:schemeClr>
      </a:solidFill>
      <a:round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top5_mehsul!$C$1</c:f>
              <c:strCache>
                <c:ptCount val="1"/>
                <c:pt idx="0">
                  <c:v>GELIR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invertIfNegative val="0"/>
          <c:cat>
            <c:multiLvlStrRef>
              <c:f>top5_mehsul!$A$2:$B$6</c:f>
              <c:multiLvlStrCache>
                <c:ptCount val="5"/>
                <c:lvl>
                  <c:pt idx="0">
                    <c:v>Product 21</c:v>
                  </c:pt>
                  <c:pt idx="1">
                    <c:v>Product 22</c:v>
                  </c:pt>
                  <c:pt idx="2">
                    <c:v>Product 11</c:v>
                  </c:pt>
                  <c:pt idx="3">
                    <c:v>Product 93</c:v>
                  </c:pt>
                  <c:pt idx="4">
                    <c:v>Product 88</c:v>
                  </c:pt>
                </c:lvl>
                <c:lvl>
                  <c:pt idx="0">
                    <c:v>P2021</c:v>
                  </c:pt>
                  <c:pt idx="1">
                    <c:v>P2022</c:v>
                  </c:pt>
                  <c:pt idx="2">
                    <c:v>P2011</c:v>
                  </c:pt>
                  <c:pt idx="3">
                    <c:v>P2093</c:v>
                  </c:pt>
                  <c:pt idx="4">
                    <c:v>P2088</c:v>
                  </c:pt>
                </c:lvl>
              </c:multiLvlStrCache>
            </c:multiLvlStrRef>
          </c:cat>
          <c:val>
            <c:numRef>
              <c:f>top5_mehsul!$C$2:$C$6</c:f>
              <c:numCache>
                <c:formatCode>General</c:formatCode>
                <c:ptCount val="5"/>
                <c:pt idx="0">
                  <c:v>71518</c:v>
                </c:pt>
                <c:pt idx="1">
                  <c:v>66007</c:v>
                </c:pt>
                <c:pt idx="2">
                  <c:v>64946</c:v>
                </c:pt>
                <c:pt idx="3">
                  <c:v>64087</c:v>
                </c:pt>
                <c:pt idx="4">
                  <c:v>59201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155-40E5-9C25-114A549A655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15"/>
        <c:overlap val="-20"/>
        <c:axId val="600395056"/>
        <c:axId val="600395416"/>
      </c:barChart>
      <c:catAx>
        <c:axId val="60039505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0395416"/>
        <c:crosses val="autoZero"/>
        <c:auto val="1"/>
        <c:lblAlgn val="ctr"/>
        <c:lblOffset val="100"/>
        <c:noMultiLvlLbl val="0"/>
      </c:catAx>
      <c:valAx>
        <c:axId val="6003954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003950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az-Latn-AZ"/>
              <a:t>Məbləğ</a:t>
            </a:r>
            <a:endParaRPr lang="en-US"/>
          </a:p>
        </c:rich>
      </c:tx>
      <c:layout>
        <c:manualLayout>
          <c:xMode val="edge"/>
          <c:yMode val="edge"/>
          <c:x val="0.37196522309711288"/>
          <c:y val="4.6296296296296294E-3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stacked"/>
        <c:varyColors val="0"/>
        <c:ser>
          <c:idx val="0"/>
          <c:order val="0"/>
          <c:tx>
            <c:strRef>
              <c:f>top5_musteri!$C$1</c:f>
              <c:strCache>
                <c:ptCount val="1"/>
                <c:pt idx="0">
                  <c:v>SIFARIS_SAYI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cat>
            <c:multiLvlStrRef>
              <c:f>top5_musteri!$A$2:$B$6</c:f>
              <c:multiLvlStrCache>
                <c:ptCount val="5"/>
                <c:lvl>
                  <c:pt idx="0">
                    <c:v>Customer 125</c:v>
                  </c:pt>
                  <c:pt idx="1">
                    <c:v>Customer 120</c:v>
                  </c:pt>
                  <c:pt idx="2">
                    <c:v>Customer 194</c:v>
                  </c:pt>
                  <c:pt idx="3">
                    <c:v>Customer 23</c:v>
                  </c:pt>
                  <c:pt idx="4">
                    <c:v>Customer 111</c:v>
                  </c:pt>
                </c:lvl>
                <c:lvl>
                  <c:pt idx="0">
                    <c:v>C1125</c:v>
                  </c:pt>
                  <c:pt idx="1">
                    <c:v>C1120</c:v>
                  </c:pt>
                  <c:pt idx="2">
                    <c:v>C1194</c:v>
                  </c:pt>
                  <c:pt idx="3">
                    <c:v>C1023</c:v>
                  </c:pt>
                  <c:pt idx="4">
                    <c:v>C1111</c:v>
                  </c:pt>
                </c:lvl>
              </c:multiLvlStrCache>
            </c:multiLvlStrRef>
          </c:cat>
          <c:val>
            <c:numRef>
              <c:f>top5_musteri!$C$2:$C$6</c:f>
              <c:numCache>
                <c:formatCode>General</c:formatCode>
                <c:ptCount val="5"/>
                <c:pt idx="0">
                  <c:v>22</c:v>
                </c:pt>
                <c:pt idx="1">
                  <c:v>15</c:v>
                </c:pt>
                <c:pt idx="2">
                  <c:v>15</c:v>
                </c:pt>
                <c:pt idx="3">
                  <c:v>11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29E-4C10-B1C1-3FFDC9801A67}"/>
            </c:ext>
          </c:extLst>
        </c:ser>
        <c:ser>
          <c:idx val="1"/>
          <c:order val="1"/>
          <c:tx>
            <c:strRef>
              <c:f>top5_musteri!$D$1</c:f>
              <c:strCache>
                <c:ptCount val="1"/>
                <c:pt idx="0">
                  <c:v>UMUMI_MIQDAR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cat>
            <c:multiLvlStrRef>
              <c:f>top5_musteri!$A$2:$B$6</c:f>
              <c:multiLvlStrCache>
                <c:ptCount val="5"/>
                <c:lvl>
                  <c:pt idx="0">
                    <c:v>Customer 125</c:v>
                  </c:pt>
                  <c:pt idx="1">
                    <c:v>Customer 120</c:v>
                  </c:pt>
                  <c:pt idx="2">
                    <c:v>Customer 194</c:v>
                  </c:pt>
                  <c:pt idx="3">
                    <c:v>Customer 23</c:v>
                  </c:pt>
                  <c:pt idx="4">
                    <c:v>Customer 111</c:v>
                  </c:pt>
                </c:lvl>
                <c:lvl>
                  <c:pt idx="0">
                    <c:v>C1125</c:v>
                  </c:pt>
                  <c:pt idx="1">
                    <c:v>C1120</c:v>
                  </c:pt>
                  <c:pt idx="2">
                    <c:v>C1194</c:v>
                  </c:pt>
                  <c:pt idx="3">
                    <c:v>C1023</c:v>
                  </c:pt>
                  <c:pt idx="4">
                    <c:v>C1111</c:v>
                  </c:pt>
                </c:lvl>
              </c:multiLvlStrCache>
            </c:multiLvlStrRef>
          </c:cat>
          <c:val>
            <c:numRef>
              <c:f>top5_musteri!$D$2:$D$6</c:f>
              <c:numCache>
                <c:formatCode>General</c:formatCode>
                <c:ptCount val="5"/>
                <c:pt idx="0">
                  <c:v>97</c:v>
                </c:pt>
                <c:pt idx="1">
                  <c:v>96</c:v>
                </c:pt>
                <c:pt idx="2">
                  <c:v>84</c:v>
                </c:pt>
                <c:pt idx="3">
                  <c:v>57</c:v>
                </c:pt>
                <c:pt idx="4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29E-4C10-B1C1-3FFDC9801A67}"/>
            </c:ext>
          </c:extLst>
        </c:ser>
        <c:ser>
          <c:idx val="2"/>
          <c:order val="2"/>
          <c:tx>
            <c:strRef>
              <c:f>top5_musteri!$E$1</c:f>
              <c:strCache>
                <c:ptCount val="1"/>
                <c:pt idx="0">
                  <c:v>mebleğ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cat>
            <c:multiLvlStrRef>
              <c:f>top5_musteri!$A$2:$B$6</c:f>
              <c:multiLvlStrCache>
                <c:ptCount val="5"/>
                <c:lvl>
                  <c:pt idx="0">
                    <c:v>Customer 125</c:v>
                  </c:pt>
                  <c:pt idx="1">
                    <c:v>Customer 120</c:v>
                  </c:pt>
                  <c:pt idx="2">
                    <c:v>Customer 194</c:v>
                  </c:pt>
                  <c:pt idx="3">
                    <c:v>Customer 23</c:v>
                  </c:pt>
                  <c:pt idx="4">
                    <c:v>Customer 111</c:v>
                  </c:pt>
                </c:lvl>
                <c:lvl>
                  <c:pt idx="0">
                    <c:v>C1125</c:v>
                  </c:pt>
                  <c:pt idx="1">
                    <c:v>C1120</c:v>
                  </c:pt>
                  <c:pt idx="2">
                    <c:v>C1194</c:v>
                  </c:pt>
                  <c:pt idx="3">
                    <c:v>C1023</c:v>
                  </c:pt>
                  <c:pt idx="4">
                    <c:v>C1111</c:v>
                  </c:pt>
                </c:lvl>
              </c:multiLvlStrCache>
            </c:multiLvlStrRef>
          </c:cat>
          <c:val>
            <c:numRef>
              <c:f>top5_musteri!$E$2:$E$6</c:f>
              <c:numCache>
                <c:formatCode>General</c:formatCode>
                <c:ptCount val="5"/>
                <c:pt idx="0">
                  <c:v>55845</c:v>
                </c:pt>
                <c:pt idx="1">
                  <c:v>48363</c:v>
                </c:pt>
                <c:pt idx="2">
                  <c:v>43654</c:v>
                </c:pt>
                <c:pt idx="3">
                  <c:v>40365</c:v>
                </c:pt>
                <c:pt idx="4">
                  <c:v>40140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C29E-4C10-B1C1-3FFDC9801A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1164974016"/>
        <c:axId val="1164972216"/>
        <c:axId val="0"/>
      </c:bar3DChart>
      <c:catAx>
        <c:axId val="1164974016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4972216"/>
        <c:crosses val="autoZero"/>
        <c:auto val="1"/>
        <c:lblAlgn val="ctr"/>
        <c:lblOffset val="100"/>
        <c:noMultiLvlLbl val="0"/>
      </c:catAx>
      <c:valAx>
        <c:axId val="11649722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649740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az-Latn-AZ"/>
              <a:t>siafriş sayı və sifariş</a:t>
            </a:r>
            <a:r>
              <a:rPr lang="az-Latn-AZ" baseline="0"/>
              <a:t> verilən məhsullar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bar"/>
        <c:grouping val="clustered"/>
        <c:varyColors val="0"/>
        <c:ser>
          <c:idx val="0"/>
          <c:order val="0"/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top5_musteri!$B$2:$B$6</c:f>
              <c:strCache>
                <c:ptCount val="5"/>
                <c:pt idx="0">
                  <c:v>Customer 125</c:v>
                </c:pt>
                <c:pt idx="1">
                  <c:v>Customer 120</c:v>
                </c:pt>
                <c:pt idx="2">
                  <c:v>Customer 194</c:v>
                </c:pt>
                <c:pt idx="3">
                  <c:v>Customer 23</c:v>
                </c:pt>
                <c:pt idx="4">
                  <c:v>Customer 111</c:v>
                </c:pt>
              </c:strCache>
            </c:strRef>
          </c:cat>
          <c:val>
            <c:numRef>
              <c:f>top5_musteri!$C$2:$C$6</c:f>
              <c:numCache>
                <c:formatCode>General</c:formatCode>
                <c:ptCount val="5"/>
                <c:pt idx="0">
                  <c:v>22</c:v>
                </c:pt>
                <c:pt idx="1">
                  <c:v>15</c:v>
                </c:pt>
                <c:pt idx="2">
                  <c:v>15</c:v>
                </c:pt>
                <c:pt idx="3">
                  <c:v>11</c:v>
                </c:pt>
                <c:pt idx="4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DA3-4C49-BA3B-3B2EB9AA92AA}"/>
            </c:ext>
          </c:extLst>
        </c:ser>
        <c:ser>
          <c:idx val="1"/>
          <c:order val="1"/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top5_musteri!$B$2:$B$6</c:f>
              <c:strCache>
                <c:ptCount val="5"/>
                <c:pt idx="0">
                  <c:v>Customer 125</c:v>
                </c:pt>
                <c:pt idx="1">
                  <c:v>Customer 120</c:v>
                </c:pt>
                <c:pt idx="2">
                  <c:v>Customer 194</c:v>
                </c:pt>
                <c:pt idx="3">
                  <c:v>Customer 23</c:v>
                </c:pt>
                <c:pt idx="4">
                  <c:v>Customer 111</c:v>
                </c:pt>
              </c:strCache>
            </c:strRef>
          </c:cat>
          <c:val>
            <c:numRef>
              <c:f>top5_musteri!$D$2:$D$6</c:f>
              <c:numCache>
                <c:formatCode>General</c:formatCode>
                <c:ptCount val="5"/>
                <c:pt idx="0">
                  <c:v>97</c:v>
                </c:pt>
                <c:pt idx="1">
                  <c:v>96</c:v>
                </c:pt>
                <c:pt idx="2">
                  <c:v>84</c:v>
                </c:pt>
                <c:pt idx="3">
                  <c:v>57</c:v>
                </c:pt>
                <c:pt idx="4">
                  <c:v>65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DA3-4C49-BA3B-3B2EB9AA92A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shape val="box"/>
        <c:axId val="1094013512"/>
        <c:axId val="1094009912"/>
        <c:axId val="0"/>
      </c:bar3DChart>
      <c:catAx>
        <c:axId val="10940135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4009912"/>
        <c:crosses val="autoZero"/>
        <c:auto val="1"/>
        <c:lblAlgn val="ctr"/>
        <c:lblOffset val="100"/>
        <c:noMultiLvlLbl val="0"/>
      </c:catAx>
      <c:valAx>
        <c:axId val="109400991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dk1">
                  <a:lumMod val="50000"/>
                  <a:lumOff val="5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401351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qaytarma!$B$1</c:f>
              <c:strCache>
                <c:ptCount val="1"/>
                <c:pt idx="0">
                  <c:v>SAY_CEM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qaytarma!$A$2:$A$6</c:f>
              <c:strCache>
                <c:ptCount val="5"/>
                <c:pt idx="0">
                  <c:v>Books</c:v>
                </c:pt>
                <c:pt idx="1">
                  <c:v>Clothing</c:v>
                </c:pt>
                <c:pt idx="2">
                  <c:v>Electronics</c:v>
                </c:pt>
                <c:pt idx="3">
                  <c:v>Home</c:v>
                </c:pt>
                <c:pt idx="4">
                  <c:v>Toys</c:v>
                </c:pt>
              </c:strCache>
            </c:strRef>
          </c:cat>
          <c:val>
            <c:numRef>
              <c:f>qaytarma!$B$2:$B$6</c:f>
              <c:numCache>
                <c:formatCode>General</c:formatCode>
                <c:ptCount val="5"/>
                <c:pt idx="0">
                  <c:v>1131</c:v>
                </c:pt>
                <c:pt idx="1">
                  <c:v>796</c:v>
                </c:pt>
                <c:pt idx="2">
                  <c:v>1088</c:v>
                </c:pt>
                <c:pt idx="3">
                  <c:v>914</c:v>
                </c:pt>
                <c:pt idx="4">
                  <c:v>1026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0DF-4D94-A59D-9156DA8ED97F}"/>
            </c:ext>
          </c:extLst>
        </c:ser>
        <c:ser>
          <c:idx val="1"/>
          <c:order val="1"/>
          <c:tx>
            <c:strRef>
              <c:f>qaytarma!$C$1</c:f>
              <c:strCache>
                <c:ptCount val="1"/>
                <c:pt idx="0">
                  <c:v>QAYTARILAN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qaytarma!$A$2:$A$6</c:f>
              <c:strCache>
                <c:ptCount val="5"/>
                <c:pt idx="0">
                  <c:v>Books</c:v>
                </c:pt>
                <c:pt idx="1">
                  <c:v>Clothing</c:v>
                </c:pt>
                <c:pt idx="2">
                  <c:v>Electronics</c:v>
                </c:pt>
                <c:pt idx="3">
                  <c:v>Home</c:v>
                </c:pt>
                <c:pt idx="4">
                  <c:v>Toys</c:v>
                </c:pt>
              </c:strCache>
            </c:strRef>
          </c:cat>
          <c:val>
            <c:numRef>
              <c:f>qaytarma!$C$2:$C$6</c:f>
              <c:numCache>
                <c:formatCode>General</c:formatCode>
                <c:ptCount val="5"/>
                <c:pt idx="0">
                  <c:v>209</c:v>
                </c:pt>
                <c:pt idx="1">
                  <c:v>149</c:v>
                </c:pt>
                <c:pt idx="2">
                  <c:v>232</c:v>
                </c:pt>
                <c:pt idx="3">
                  <c:v>241</c:v>
                </c:pt>
                <c:pt idx="4">
                  <c:v>184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0DF-4D94-A59D-9156DA8ED9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219"/>
        <c:overlap val="-27"/>
        <c:axId val="1099232504"/>
        <c:axId val="1099229264"/>
      </c:barChart>
      <c:lineChart>
        <c:grouping val="standard"/>
        <c:varyColors val="0"/>
        <c:ser>
          <c:idx val="2"/>
          <c:order val="2"/>
          <c:tx>
            <c:strRef>
              <c:f>qaytarma!$D$1</c:f>
              <c:strCache>
                <c:ptCount val="1"/>
                <c:pt idx="0">
                  <c:v>NISBET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dLbls>
            <c:dLbl>
              <c:idx val="0"/>
              <c:layout>
                <c:manualLayout>
                  <c:x val="7.1862982755147541E-3"/>
                  <c:y val="1.5722238797285872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A0DF-4D94-A59D-9156DA8ED97F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qaytarma!$A$2:$A$6</c:f>
              <c:strCache>
                <c:ptCount val="5"/>
                <c:pt idx="0">
                  <c:v>Books</c:v>
                </c:pt>
                <c:pt idx="1">
                  <c:v>Clothing</c:v>
                </c:pt>
                <c:pt idx="2">
                  <c:v>Electronics</c:v>
                </c:pt>
                <c:pt idx="3">
                  <c:v>Home</c:v>
                </c:pt>
                <c:pt idx="4">
                  <c:v>Toys</c:v>
                </c:pt>
              </c:strCache>
            </c:strRef>
          </c:cat>
          <c:val>
            <c:numRef>
              <c:f>qaytarma!$D$2:$D$6</c:f>
              <c:numCache>
                <c:formatCode>0.00%</c:formatCode>
                <c:ptCount val="5"/>
                <c:pt idx="0">
                  <c:v>0.18</c:v>
                </c:pt>
                <c:pt idx="1">
                  <c:v>0.19</c:v>
                </c:pt>
                <c:pt idx="2">
                  <c:v>0.21</c:v>
                </c:pt>
                <c:pt idx="3">
                  <c:v>0.26</c:v>
                </c:pt>
                <c:pt idx="4">
                  <c:v>0.18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0DF-4D94-A59D-9156DA8ED97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1171246152"/>
        <c:axId val="1171244712"/>
      </c:lineChart>
      <c:catAx>
        <c:axId val="109923250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9229264"/>
        <c:crosses val="autoZero"/>
        <c:auto val="1"/>
        <c:lblAlgn val="ctr"/>
        <c:lblOffset val="100"/>
        <c:noMultiLvlLbl val="0"/>
      </c:catAx>
      <c:valAx>
        <c:axId val="109922926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099232504"/>
        <c:crosses val="autoZero"/>
        <c:crossBetween val="between"/>
      </c:valAx>
      <c:valAx>
        <c:axId val="1171244712"/>
        <c:scaling>
          <c:orientation val="minMax"/>
        </c:scaling>
        <c:delete val="0"/>
        <c:axPos val="r"/>
        <c:numFmt formatCode="0.0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1246152"/>
        <c:crosses val="max"/>
        <c:crossBetween val="between"/>
      </c:valAx>
      <c:catAx>
        <c:axId val="1171246152"/>
        <c:scaling>
          <c:orientation val="minMax"/>
        </c:scaling>
        <c:delete val="0"/>
        <c:axPos val="t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171244712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1" i="0" u="none" strike="noStrike" kern="1200" spc="100" baseline="0">
                <a:solidFill>
                  <a:schemeClr val="lt1">
                    <a:lumMod val="95000"/>
                  </a:schemeClr>
                </a:solidFill>
                <a:effectLst>
                  <a:outerShdw blurRad="50800" dist="38100" dir="5400000" algn="t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pPr>
            <a:r>
              <a:rPr lang="az-Latn-AZ"/>
              <a:t>Sifariş</a:t>
            </a:r>
            <a:r>
              <a:rPr lang="az-Latn-AZ" baseline="0"/>
              <a:t> sayı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odenis!$B$1</c:f>
              <c:strCache>
                <c:ptCount val="1"/>
                <c:pt idx="0">
                  <c:v>SIFARIS_SAYI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/>
            </c:spPr>
            <c:extLst>
              <c:ext xmlns:c16="http://schemas.microsoft.com/office/drawing/2014/chart" uri="{C3380CC4-5D6E-409C-BE32-E72D297353CC}">
                <c16:uniqueId val="{00000001-0343-4489-B12F-7CAE247D1227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/>
            </c:spPr>
            <c:extLst>
              <c:ext xmlns:c16="http://schemas.microsoft.com/office/drawing/2014/chart" uri="{C3380CC4-5D6E-409C-BE32-E72D297353CC}">
                <c16:uniqueId val="{00000003-0343-4489-B12F-7CAE247D1227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/>
            </c:spPr>
            <c:extLst>
              <c:ext xmlns:c16="http://schemas.microsoft.com/office/drawing/2014/chart" uri="{C3380CC4-5D6E-409C-BE32-E72D297353CC}">
                <c16:uniqueId val="{00000005-0343-4489-B12F-7CAE247D122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odenis!$A$2:$A$4</c:f>
              <c:strCache>
                <c:ptCount val="3"/>
                <c:pt idx="0">
                  <c:v>Cash</c:v>
                </c:pt>
                <c:pt idx="1">
                  <c:v>Transfer</c:v>
                </c:pt>
                <c:pt idx="2">
                  <c:v>Card</c:v>
                </c:pt>
              </c:strCache>
            </c:strRef>
          </c:cat>
          <c:val>
            <c:numRef>
              <c:f>odenis!$B$2:$B$4</c:f>
              <c:numCache>
                <c:formatCode>General</c:formatCode>
                <c:ptCount val="3"/>
                <c:pt idx="0">
                  <c:v>352</c:v>
                </c:pt>
                <c:pt idx="1">
                  <c:v>351</c:v>
                </c:pt>
                <c:pt idx="2">
                  <c:v>297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343-4489-B12F-7CAE247D1227}"/>
            </c:ext>
          </c:extLst>
        </c:ser>
        <c:ser>
          <c:idx val="1"/>
          <c:order val="1"/>
          <c:tx>
            <c:strRef>
              <c:f>odenis!$C$1</c:f>
              <c:strCache>
                <c:ptCount val="1"/>
                <c:pt idx="0">
                  <c:v>FAIZ</c:v>
                </c:pt>
              </c:strCache>
            </c:strRef>
          </c:tx>
          <c:dPt>
            <c:idx val="0"/>
            <c:bubble3D val="0"/>
            <c:spPr>
              <a:gradFill rotWithShape="1">
                <a:gsLst>
                  <a:gs pos="0">
                    <a:schemeClr val="accent1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1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1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/>
            </c:spPr>
            <c:extLst>
              <c:ext xmlns:c16="http://schemas.microsoft.com/office/drawing/2014/chart" uri="{C3380CC4-5D6E-409C-BE32-E72D297353CC}">
                <c16:uniqueId val="{00000008-0343-4489-B12F-7CAE247D1227}"/>
              </c:ext>
            </c:extLst>
          </c:dPt>
          <c:dPt>
            <c:idx val="1"/>
            <c:bubble3D val="0"/>
            <c:spPr>
              <a:gradFill rotWithShape="1">
                <a:gsLst>
                  <a:gs pos="0">
                    <a:schemeClr val="accent2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2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2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/>
            </c:spPr>
            <c:extLst>
              <c:ext xmlns:c16="http://schemas.microsoft.com/office/drawing/2014/chart" uri="{C3380CC4-5D6E-409C-BE32-E72D297353CC}">
                <c16:uniqueId val="{0000000A-0343-4489-B12F-7CAE247D1227}"/>
              </c:ext>
            </c:extLst>
          </c:dPt>
          <c:dPt>
            <c:idx val="2"/>
            <c:bubble3D val="0"/>
            <c:spPr>
              <a:gradFill rotWithShape="1">
                <a:gsLst>
                  <a:gs pos="0">
                    <a:schemeClr val="accent3">
                      <a:satMod val="103000"/>
                      <a:lumMod val="102000"/>
                      <a:tint val="94000"/>
                    </a:schemeClr>
                  </a:gs>
                  <a:gs pos="50000">
                    <a:schemeClr val="accent3">
                      <a:satMod val="110000"/>
                      <a:lumMod val="100000"/>
                      <a:shade val="100000"/>
                    </a:schemeClr>
                  </a:gs>
                  <a:gs pos="100000">
                    <a:schemeClr val="accent3">
                      <a:lumMod val="99000"/>
                      <a:satMod val="120000"/>
                      <a:shade val="78000"/>
                    </a:schemeClr>
                  </a:gs>
                </a:gsLst>
                <a:lin ang="5400000" scaled="0"/>
              </a:gradFill>
              <a:ln>
                <a:noFill/>
              </a:ln>
              <a:effectLst>
                <a:outerShdw blurRad="57150" dist="19050" dir="5400000" algn="ctr" rotWithShape="0">
                  <a:srgbClr val="000000">
                    <a:alpha val="63000"/>
                  </a:srgbClr>
                </a:outerShdw>
              </a:effectLst>
              <a:scene3d>
                <a:camera prst="orthographicFront">
                  <a:rot lat="0" lon="0" rev="0"/>
                </a:camera>
                <a:lightRig rig="threePt" dir="tl"/>
              </a:scene3d>
              <a:sp3d/>
            </c:spPr>
            <c:extLst>
              <c:ext xmlns:c16="http://schemas.microsoft.com/office/drawing/2014/chart" uri="{C3380CC4-5D6E-409C-BE32-E72D297353CC}">
                <c16:uniqueId val="{0000000C-0343-4489-B12F-7CAE247D1227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bestFit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>
                  <a:solidFill>
                    <a:schemeClr val="lt1">
                      <a:lumMod val="95000"/>
                      <a:alpha val="54000"/>
                    </a:schemeClr>
                  </a:solidFill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odenis!$A$2:$A$4</c:f>
              <c:strCache>
                <c:ptCount val="3"/>
                <c:pt idx="0">
                  <c:v>Cash</c:v>
                </c:pt>
                <c:pt idx="1">
                  <c:v>Transfer</c:v>
                </c:pt>
                <c:pt idx="2">
                  <c:v>Card</c:v>
                </c:pt>
              </c:strCache>
            </c:strRef>
          </c:cat>
          <c:val>
            <c:numRef>
              <c:f>odenis!$C$2:$C$4</c:f>
              <c:numCache>
                <c:formatCode>0.00%</c:formatCode>
                <c:ptCount val="3"/>
                <c:pt idx="0">
                  <c:v>0.35199999999999998</c:v>
                </c:pt>
                <c:pt idx="1">
                  <c:v>0.35099999999999998</c:v>
                </c:pt>
                <c:pt idx="2">
                  <c:v>0.29699999999999999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D-0343-4489-B12F-7CAE247D1227}"/>
            </c:ext>
          </c:extLst>
        </c:ser>
        <c:dLbls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'sebebler uzre qaytarilma'!$B$1</c:f>
              <c:strCache>
                <c:ptCount val="1"/>
                <c:pt idx="0">
                  <c:v>qaytarilma_sayi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'sebebler uzre qaytarilma'!$A$2:$A$4</c:f>
              <c:strCache>
                <c:ptCount val="3"/>
                <c:pt idx="0">
                  <c:v>Defective</c:v>
                </c:pt>
                <c:pt idx="1">
                  <c:v>Customer Dissatisfaction</c:v>
                </c:pt>
                <c:pt idx="2">
                  <c:v>Wrong Item</c:v>
                </c:pt>
              </c:strCache>
            </c:strRef>
          </c:cat>
          <c:val>
            <c:numRef>
              <c:f>'sebebler uzre qaytarilma'!$B$2:$B$4</c:f>
              <c:numCache>
                <c:formatCode>General</c:formatCode>
                <c:ptCount val="3"/>
                <c:pt idx="0">
                  <c:v>256</c:v>
                </c:pt>
                <c:pt idx="1">
                  <c:v>398</c:v>
                </c:pt>
                <c:pt idx="2">
                  <c:v>361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E3E-474C-84F0-64D2D0687648}"/>
            </c:ext>
          </c:extLst>
        </c:ser>
        <c:ser>
          <c:idx val="1"/>
          <c:order val="1"/>
          <c:tx>
            <c:strRef>
              <c:f>'sebebler uzre qaytarilma'!$C$1</c:f>
              <c:strCache>
                <c:ptCount val="1"/>
                <c:pt idx="0">
                  <c:v>umumi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strRef>
              <c:f>'sebebler uzre qaytarilma'!$A$2:$A$4</c:f>
              <c:strCache>
                <c:ptCount val="3"/>
                <c:pt idx="0">
                  <c:v>Defective</c:v>
                </c:pt>
                <c:pt idx="1">
                  <c:v>Customer Dissatisfaction</c:v>
                </c:pt>
                <c:pt idx="2">
                  <c:v>Wrong Item</c:v>
                </c:pt>
              </c:strCache>
            </c:strRef>
          </c:cat>
          <c:val>
            <c:numRef>
              <c:f>'sebebler uzre qaytarilma'!$C$2:$C$4</c:f>
              <c:numCache>
                <c:formatCode>General</c:formatCode>
                <c:ptCount val="3"/>
                <c:pt idx="0">
                  <c:v>1015</c:v>
                </c:pt>
                <c:pt idx="1">
                  <c:v>1015</c:v>
                </c:pt>
                <c:pt idx="2">
                  <c:v>1015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E3E-474C-84F0-64D2D06876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1254000"/>
        <c:axId val="611252200"/>
      </c:barChart>
      <c:lineChart>
        <c:grouping val="standard"/>
        <c:varyColors val="0"/>
        <c:ser>
          <c:idx val="2"/>
          <c:order val="2"/>
          <c:tx>
            <c:strRef>
              <c:f>'sebebler uzre qaytarilma'!$D$1</c:f>
              <c:strCache>
                <c:ptCount val="1"/>
                <c:pt idx="0">
                  <c:v>qayatarilma_nisbeti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strRef>
              <c:f>'sebebler uzre qaytarilma'!$A$2:$A$4</c:f>
              <c:strCache>
                <c:ptCount val="3"/>
                <c:pt idx="0">
                  <c:v>Defective</c:v>
                </c:pt>
                <c:pt idx="1">
                  <c:v>Customer Dissatisfaction</c:v>
                </c:pt>
                <c:pt idx="2">
                  <c:v>Wrong Item</c:v>
                </c:pt>
              </c:strCache>
            </c:strRef>
          </c:cat>
          <c:val>
            <c:numRef>
              <c:f>'sebebler uzre qaytarilma'!$D$2:$D$4</c:f>
              <c:numCache>
                <c:formatCode>0%</c:formatCode>
                <c:ptCount val="3"/>
                <c:pt idx="0">
                  <c:v>0.25</c:v>
                </c:pt>
                <c:pt idx="1">
                  <c:v>0.39</c:v>
                </c:pt>
                <c:pt idx="2">
                  <c:v>0.36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E3E-474C-84F0-64D2D068764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11258320"/>
        <c:axId val="611251840"/>
      </c:lineChart>
      <c:catAx>
        <c:axId val="61125400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252200"/>
        <c:crosses val="autoZero"/>
        <c:auto val="1"/>
        <c:lblAlgn val="ctr"/>
        <c:lblOffset val="100"/>
        <c:noMultiLvlLbl val="0"/>
      </c:catAx>
      <c:valAx>
        <c:axId val="611252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254000"/>
        <c:crosses val="autoZero"/>
        <c:crossBetween val="between"/>
      </c:valAx>
      <c:valAx>
        <c:axId val="611251840"/>
        <c:scaling>
          <c:orientation val="minMax"/>
        </c:scaling>
        <c:delete val="0"/>
        <c:axPos val="r"/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1258320"/>
        <c:crosses val="max"/>
        <c:crossBetween val="between"/>
      </c:valAx>
      <c:catAx>
        <c:axId val="611258320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extTo"/>
        <c:crossAx val="61125184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lt1">
                  <a:lumMod val="8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solidFill>
      <a:srgbClr val="BC1671"/>
    </a:soli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'her kateqoriya uzre en çox qayt'!$C$1</c:f>
              <c:strCache>
                <c:ptCount val="1"/>
                <c:pt idx="0">
                  <c:v>say_cem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multiLvlStrRef>
              <c:f>'her kateqoriya uzre en çox qayt'!$A$2:$B$6</c:f>
              <c:multiLvlStrCache>
                <c:ptCount val="5"/>
                <c:lvl>
                  <c:pt idx="0">
                    <c:v>Product 93</c:v>
                  </c:pt>
                  <c:pt idx="1">
                    <c:v>Product 90</c:v>
                  </c:pt>
                  <c:pt idx="2">
                    <c:v>Product 82</c:v>
                  </c:pt>
                  <c:pt idx="3">
                    <c:v>Product 47</c:v>
                  </c:pt>
                  <c:pt idx="4">
                    <c:v>Product 9</c:v>
                  </c:pt>
                </c:lvl>
                <c:lvl>
                  <c:pt idx="0">
                    <c:v>Books</c:v>
                  </c:pt>
                  <c:pt idx="1">
                    <c:v>Clothing</c:v>
                  </c:pt>
                  <c:pt idx="2">
                    <c:v>Electronics</c:v>
                  </c:pt>
                  <c:pt idx="3">
                    <c:v>Home</c:v>
                  </c:pt>
                  <c:pt idx="4">
                    <c:v>Toys</c:v>
                  </c:pt>
                </c:lvl>
              </c:multiLvlStrCache>
            </c:multiLvlStrRef>
          </c:cat>
          <c:val>
            <c:numRef>
              <c:f>'her kateqoriya uzre en çox qayt'!$C$2:$C$6</c:f>
              <c:numCache>
                <c:formatCode>General</c:formatCode>
                <c:ptCount val="5"/>
                <c:pt idx="0">
                  <c:v>67</c:v>
                </c:pt>
                <c:pt idx="1">
                  <c:v>46</c:v>
                </c:pt>
                <c:pt idx="2">
                  <c:v>43</c:v>
                </c:pt>
                <c:pt idx="3">
                  <c:v>50</c:v>
                </c:pt>
                <c:pt idx="4">
                  <c:v>69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19-4643-9DBD-671BC94252A4}"/>
            </c:ext>
          </c:extLst>
        </c:ser>
        <c:ser>
          <c:idx val="1"/>
          <c:order val="1"/>
          <c:tx>
            <c:strRef>
              <c:f>'her kateqoriya uzre en çox qayt'!$D$1</c:f>
              <c:strCache>
                <c:ptCount val="1"/>
                <c:pt idx="0">
                  <c:v>qaytarilan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 prstMaterial="plastic">
              <a:bevelT w="0" h="0"/>
            </a:sp3d>
          </c:spPr>
          <c:invertIfNegative val="0"/>
          <c:cat>
            <c:multiLvlStrRef>
              <c:f>'her kateqoriya uzre en çox qayt'!$A$2:$B$6</c:f>
              <c:multiLvlStrCache>
                <c:ptCount val="5"/>
                <c:lvl>
                  <c:pt idx="0">
                    <c:v>Product 93</c:v>
                  </c:pt>
                  <c:pt idx="1">
                    <c:v>Product 90</c:v>
                  </c:pt>
                  <c:pt idx="2">
                    <c:v>Product 82</c:v>
                  </c:pt>
                  <c:pt idx="3">
                    <c:v>Product 47</c:v>
                  </c:pt>
                  <c:pt idx="4">
                    <c:v>Product 9</c:v>
                  </c:pt>
                </c:lvl>
                <c:lvl>
                  <c:pt idx="0">
                    <c:v>Books</c:v>
                  </c:pt>
                  <c:pt idx="1">
                    <c:v>Clothing</c:v>
                  </c:pt>
                  <c:pt idx="2">
                    <c:v>Electronics</c:v>
                  </c:pt>
                  <c:pt idx="3">
                    <c:v>Home</c:v>
                  </c:pt>
                  <c:pt idx="4">
                    <c:v>Toys</c:v>
                  </c:pt>
                </c:lvl>
              </c:multiLvlStrCache>
            </c:multiLvlStrRef>
          </c:cat>
          <c:val>
            <c:numRef>
              <c:f>'her kateqoriya uzre en çox qayt'!$D$2:$D$6</c:f>
              <c:numCache>
                <c:formatCode>General</c:formatCode>
                <c:ptCount val="5"/>
                <c:pt idx="0">
                  <c:v>29</c:v>
                </c:pt>
                <c:pt idx="1">
                  <c:v>21</c:v>
                </c:pt>
                <c:pt idx="2">
                  <c:v>25</c:v>
                </c:pt>
                <c:pt idx="3">
                  <c:v>22</c:v>
                </c:pt>
                <c:pt idx="4">
                  <c:v>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E19-4643-9DBD-671BC94252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619702656"/>
        <c:axId val="619704816"/>
      </c:barChart>
      <c:lineChart>
        <c:grouping val="standard"/>
        <c:varyColors val="0"/>
        <c:ser>
          <c:idx val="2"/>
          <c:order val="2"/>
          <c:tx>
            <c:strRef>
              <c:f>'her kateqoriya uzre en çox qayt'!$E$1</c:f>
              <c:strCache>
                <c:ptCount val="1"/>
                <c:pt idx="0">
                  <c:v>qaytarilma_nisbet</c:v>
                </c:pt>
              </c:strCache>
            </c:strRef>
          </c:tx>
          <c:spPr>
            <a:ln w="34925" cap="rnd">
              <a:solidFill>
                <a:schemeClr val="accent3"/>
              </a:solidFill>
              <a:round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</c:spPr>
          <c:marker>
            <c:symbol val="none"/>
          </c:marker>
          <c:cat>
            <c:multiLvlStrRef>
              <c:f>'her kateqoriya uzre en çox qayt'!$A$2:$B$6</c:f>
              <c:multiLvlStrCache>
                <c:ptCount val="5"/>
                <c:lvl>
                  <c:pt idx="0">
                    <c:v>Product 93</c:v>
                  </c:pt>
                  <c:pt idx="1">
                    <c:v>Product 90</c:v>
                  </c:pt>
                  <c:pt idx="2">
                    <c:v>Product 82</c:v>
                  </c:pt>
                  <c:pt idx="3">
                    <c:v>Product 47</c:v>
                  </c:pt>
                  <c:pt idx="4">
                    <c:v>Product 9</c:v>
                  </c:pt>
                </c:lvl>
                <c:lvl>
                  <c:pt idx="0">
                    <c:v>Books</c:v>
                  </c:pt>
                  <c:pt idx="1">
                    <c:v>Clothing</c:v>
                  </c:pt>
                  <c:pt idx="2">
                    <c:v>Electronics</c:v>
                  </c:pt>
                  <c:pt idx="3">
                    <c:v>Home</c:v>
                  </c:pt>
                  <c:pt idx="4">
                    <c:v>Toys</c:v>
                  </c:pt>
                </c:lvl>
              </c:multiLvlStrCache>
            </c:multiLvlStrRef>
          </c:cat>
          <c:val>
            <c:numRef>
              <c:f>'her kateqoriya uzre en çox qayt'!$E$2:$E$6</c:f>
              <c:numCache>
                <c:formatCode>0%</c:formatCode>
                <c:ptCount val="5"/>
                <c:pt idx="0">
                  <c:v>0.43</c:v>
                </c:pt>
                <c:pt idx="1">
                  <c:v>0.46</c:v>
                </c:pt>
                <c:pt idx="2">
                  <c:v>0.57999999999999996</c:v>
                </c:pt>
                <c:pt idx="3">
                  <c:v>0.44</c:v>
                </c:pt>
                <c:pt idx="4">
                  <c:v>0.39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E19-4643-9DBD-671BC94252A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615687440"/>
        <c:axId val="615688880"/>
      </c:lineChart>
      <c:catAx>
        <c:axId val="619702656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spPr>
          <a:noFill/>
          <a:ln w="12700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9704816"/>
        <c:crosses val="autoZero"/>
        <c:auto val="1"/>
        <c:lblAlgn val="ctr"/>
        <c:lblOffset val="100"/>
        <c:noMultiLvlLbl val="0"/>
      </c:catAx>
      <c:valAx>
        <c:axId val="619704816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9702656"/>
        <c:crosses val="autoZero"/>
        <c:crossBetween val="between"/>
      </c:valAx>
      <c:valAx>
        <c:axId val="615688880"/>
        <c:scaling>
          <c:orientation val="minMax"/>
        </c:scaling>
        <c:delete val="0"/>
        <c:axPos val="r"/>
        <c:numFmt formatCode="0%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15687440"/>
        <c:crosses val="max"/>
        <c:crossBetween val="between"/>
      </c:valAx>
      <c:catAx>
        <c:axId val="615687440"/>
        <c:scaling>
          <c:orientation val="minMax"/>
        </c:scaling>
        <c:delete val="1"/>
        <c:axPos val="t"/>
        <c:numFmt formatCode="General" sourceLinked="1"/>
        <c:majorTickMark val="out"/>
        <c:minorTickMark val="none"/>
        <c:tickLblPos val="nextTo"/>
        <c:crossAx val="615688880"/>
        <c:crosses val="max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>
          <a:solidFill>
            <a:schemeClr val="bg1"/>
          </a:solidFill>
        </a:defRPr>
      </a:pPr>
      <a:endParaRPr lang="en-US"/>
    </a:p>
  </c:txPr>
  <c:externalData r:id="rId3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1"/>
          <c:order val="1"/>
          <c:tx>
            <c:strRef>
              <c:f>Sheet3!$C$1</c:f>
              <c:strCache>
                <c:ptCount val="1"/>
                <c:pt idx="0">
                  <c:v>Qaytarilan</c:v>
                </c:pt>
              </c:strCache>
            </c:strRef>
          </c:tx>
          <c:spPr>
            <a:gradFill rotWithShape="1">
              <a:gsLst>
                <a:gs pos="0">
                  <a:schemeClr val="accent2">
                    <a:satMod val="103000"/>
                    <a:lumMod val="102000"/>
                    <a:tint val="94000"/>
                  </a:schemeClr>
                </a:gs>
                <a:gs pos="50000">
                  <a:schemeClr val="accent2">
                    <a:satMod val="110000"/>
                    <a:lumMod val="100000"/>
                    <a:shade val="100000"/>
                  </a:schemeClr>
                </a:gs>
                <a:gs pos="100000">
                  <a:schemeClr val="accent2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Sheet3!$A$2:$A$4</c:f>
              <c:strCache>
                <c:ptCount val="3"/>
                <c:pt idx="0">
                  <c:v>ORTA YASLI</c:v>
                </c:pt>
                <c:pt idx="1">
                  <c:v>QOCA</c:v>
                </c:pt>
                <c:pt idx="2">
                  <c:v>CAVAN</c:v>
                </c:pt>
              </c:strCache>
            </c:strRef>
          </c:cat>
          <c:val>
            <c:numRef>
              <c:f>Sheet3!$C$2:$C$4</c:f>
              <c:numCache>
                <c:formatCode>General</c:formatCode>
                <c:ptCount val="3"/>
                <c:pt idx="0">
                  <c:v>418</c:v>
                </c:pt>
                <c:pt idx="1">
                  <c:v>341</c:v>
                </c:pt>
                <c:pt idx="2">
                  <c:v>256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544-49FB-98F0-43899440AA0D}"/>
            </c:ext>
          </c:extLst>
        </c:ser>
        <c:ser>
          <c:idx val="2"/>
          <c:order val="2"/>
          <c:tx>
            <c:strRef>
              <c:f>Sheet3!$D$1</c:f>
              <c:strCache>
                <c:ptCount val="1"/>
                <c:pt idx="0">
                  <c:v>cem_mehsul</c:v>
                </c:pt>
              </c:strCache>
            </c:strRef>
          </c:tx>
          <c:spPr>
            <a:gradFill rotWithShape="1">
              <a:gsLst>
                <a:gs pos="0">
                  <a:schemeClr val="accent3">
                    <a:satMod val="103000"/>
                    <a:lumMod val="102000"/>
                    <a:tint val="94000"/>
                  </a:schemeClr>
                </a:gs>
                <a:gs pos="50000">
                  <a:schemeClr val="accent3">
                    <a:satMod val="110000"/>
                    <a:lumMod val="100000"/>
                    <a:shade val="100000"/>
                  </a:schemeClr>
                </a:gs>
                <a:gs pos="100000">
                  <a:schemeClr val="accent3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Sheet3!$A$2:$A$4</c:f>
              <c:strCache>
                <c:ptCount val="3"/>
                <c:pt idx="0">
                  <c:v>ORTA YASLI</c:v>
                </c:pt>
                <c:pt idx="1">
                  <c:v>QOCA</c:v>
                </c:pt>
                <c:pt idx="2">
                  <c:v>CAVAN</c:v>
                </c:pt>
              </c:strCache>
            </c:strRef>
          </c:cat>
          <c:val>
            <c:numRef>
              <c:f>Sheet3!$D$2:$D$4</c:f>
              <c:numCache>
                <c:formatCode>General</c:formatCode>
                <c:ptCount val="3"/>
                <c:pt idx="0">
                  <c:v>1912</c:v>
                </c:pt>
                <c:pt idx="1">
                  <c:v>1491</c:v>
                </c:pt>
                <c:pt idx="2">
                  <c:v>1552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544-49FB-98F0-43899440AA0D}"/>
            </c:ext>
          </c:extLst>
        </c:ser>
        <c:ser>
          <c:idx val="3"/>
          <c:order val="3"/>
          <c:tx>
            <c:strRef>
              <c:f>Sheet3!$E$1</c:f>
              <c:strCache>
                <c:ptCount val="1"/>
                <c:pt idx="0">
                  <c:v>QAytarilma_nisbeti</c:v>
                </c:pt>
              </c:strCache>
            </c:strRef>
          </c:tx>
          <c:spPr>
            <a:gradFill rotWithShape="1">
              <a:gsLst>
                <a:gs pos="0">
                  <a:schemeClr val="accent4">
                    <a:satMod val="103000"/>
                    <a:lumMod val="102000"/>
                    <a:tint val="94000"/>
                  </a:schemeClr>
                </a:gs>
                <a:gs pos="50000">
                  <a:schemeClr val="accent4">
                    <a:satMod val="110000"/>
                    <a:lumMod val="100000"/>
                    <a:shade val="100000"/>
                  </a:schemeClr>
                </a:gs>
                <a:gs pos="100000">
                  <a:schemeClr val="accent4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Sheet3!$A$2:$A$4</c:f>
              <c:strCache>
                <c:ptCount val="3"/>
                <c:pt idx="0">
                  <c:v>ORTA YASLI</c:v>
                </c:pt>
                <c:pt idx="1">
                  <c:v>QOCA</c:v>
                </c:pt>
                <c:pt idx="2">
                  <c:v>CAVAN</c:v>
                </c:pt>
              </c:strCache>
            </c:strRef>
          </c:cat>
          <c:val>
            <c:numRef>
              <c:f>Sheet3!$E$2:$E$4</c:f>
              <c:numCache>
                <c:formatCode>0%</c:formatCode>
                <c:ptCount val="3"/>
                <c:pt idx="0">
                  <c:v>0.22</c:v>
                </c:pt>
                <c:pt idx="1">
                  <c:v>0.23</c:v>
                </c:pt>
                <c:pt idx="2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7544-49FB-98F0-43899440AA0D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shape val="box"/>
        <c:axId val="657726144"/>
        <c:axId val="657724704"/>
        <c:axId val="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Sheet3!$B$1</c15:sqref>
                        </c15:formulaRef>
                      </c:ext>
                    </c:extLst>
                    <c:strCache>
                      <c:ptCount val="1"/>
                      <c:pt idx="0">
                        <c:v>musteri_sayi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1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1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1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l"/>
                  </a:scene3d>
                  <a:sp3d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Sheet3!$A$2:$A$4</c15:sqref>
                        </c15:formulaRef>
                      </c:ext>
                    </c:extLst>
                    <c:strCache>
                      <c:ptCount val="3"/>
                      <c:pt idx="0">
                        <c:v>ORTA YASLI</c:v>
                      </c:pt>
                      <c:pt idx="1">
                        <c:v>QOCA</c:v>
                      </c:pt>
                      <c:pt idx="2">
                        <c:v>CAVAN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Sheet3!$B$2:$B$4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64</c:v>
                      </c:pt>
                      <c:pt idx="1">
                        <c:v>53</c:v>
                      </c:pt>
                      <c:pt idx="2">
                        <c:v>59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3-7544-49FB-98F0-43899440AA0D}"/>
                  </c:ext>
                </c:extLst>
              </c15:ser>
            </c15:filteredBarSeries>
            <c15:filteredBarSeries>
              <c15:ser>
                <c:idx val="4"/>
                <c:order val="4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Sheet3!$F$1</c15:sqref>
                        </c15:formulaRef>
                      </c:ext>
                    </c:extLst>
                    <c:strCache>
                      <c:ptCount val="1"/>
                      <c:pt idx="0">
                        <c:v>QRUP_menfeet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5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5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5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l"/>
                  </a:scene3d>
                  <a:sp3d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Sheet3!$A$2:$A$4</c15:sqref>
                        </c15:formulaRef>
                      </c:ext>
                    </c:extLst>
                    <c:strCache>
                      <c:ptCount val="3"/>
                      <c:pt idx="0">
                        <c:v>ORTA YASLI</c:v>
                      </c:pt>
                      <c:pt idx="1">
                        <c:v>QOCA</c:v>
                      </c:pt>
                      <c:pt idx="2">
                        <c:v>CAVAN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Sheet3!$F$2:$F$4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183498</c:v>
                      </c:pt>
                      <c:pt idx="1">
                        <c:v>174779</c:v>
                      </c:pt>
                      <c:pt idx="2">
                        <c:v>114927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7544-49FB-98F0-43899440AA0D}"/>
                  </c:ext>
                </c:extLst>
              </c15:ser>
            </c15:filteredBarSeries>
            <c15:filteredBarSeries>
              <c15:ser>
                <c:idx val="5"/>
                <c:order val="5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Sheet3!$G$1</c15:sqref>
                        </c15:formulaRef>
                      </c:ext>
                    </c:extLst>
                    <c:strCache>
                      <c:ptCount val="1"/>
                      <c:pt idx="0">
                        <c:v>UMUMI_SATIS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6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6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6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l"/>
                  </a:scene3d>
                  <a:sp3d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Sheet3!$A$2:$A$4</c15:sqref>
                        </c15:formulaRef>
                      </c:ext>
                    </c:extLst>
                    <c:strCache>
                      <c:ptCount val="3"/>
                      <c:pt idx="0">
                        <c:v>ORTA YASLI</c:v>
                      </c:pt>
                      <c:pt idx="1">
                        <c:v>QOCA</c:v>
                      </c:pt>
                      <c:pt idx="2">
                        <c:v>CAVAN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Sheet3!$G$2:$G$4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928407</c:v>
                      </c:pt>
                      <c:pt idx="1">
                        <c:v>749038</c:v>
                      </c:pt>
                      <c:pt idx="2">
                        <c:v>726807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7544-49FB-98F0-43899440AA0D}"/>
                  </c:ext>
                </c:extLst>
              </c15:ser>
            </c15:filteredBarSeries>
            <c15:filteredBarSeries>
              <c15:ser>
                <c:idx val="6"/>
                <c:order val="6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Sheet3!$H$1</c15:sqref>
                        </c15:formulaRef>
                      </c:ext>
                    </c:extLst>
                    <c:strCache>
                      <c:ptCount val="1"/>
                      <c:pt idx="0">
                        <c:v>Menfeet_faizi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1">
                          <a:lumMod val="60000"/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1">
                          <a:lumMod val="60000"/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1">
                          <a:lumMod val="60000"/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l"/>
                  </a:scene3d>
                  <a:sp3d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Sheet3!$A$2:$A$4</c15:sqref>
                        </c15:formulaRef>
                      </c:ext>
                    </c:extLst>
                    <c:strCache>
                      <c:ptCount val="3"/>
                      <c:pt idx="0">
                        <c:v>ORTA YASLI</c:v>
                      </c:pt>
                      <c:pt idx="1">
                        <c:v>QOCA</c:v>
                      </c:pt>
                      <c:pt idx="2">
                        <c:v>CAVAN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Sheet3!$H$2:$H$4</c15:sqref>
                        </c15:formulaRef>
                      </c:ext>
                    </c:extLst>
                    <c:numCache>
                      <c:formatCode>0%</c:formatCode>
                      <c:ptCount val="3"/>
                      <c:pt idx="0">
                        <c:v>0.2</c:v>
                      </c:pt>
                      <c:pt idx="1">
                        <c:v>0.23</c:v>
                      </c:pt>
                      <c:pt idx="2">
                        <c:v>0.16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7544-49FB-98F0-43899440AA0D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Sheet3!$I$1</c15:sqref>
                        </c15:formulaRef>
                      </c:ext>
                    </c:extLst>
                    <c:strCache>
                      <c:ptCount val="1"/>
                      <c:pt idx="0">
                        <c:v>orta_satis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2">
                          <a:lumMod val="60000"/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2">
                          <a:lumMod val="60000"/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2">
                          <a:lumMod val="60000"/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l"/>
                  </a:scene3d>
                  <a:sp3d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Sheet3!$A$2:$A$4</c15:sqref>
                        </c15:formulaRef>
                      </c:ext>
                    </c:extLst>
                    <c:strCache>
                      <c:ptCount val="3"/>
                      <c:pt idx="0">
                        <c:v>ORTA YASLI</c:v>
                      </c:pt>
                      <c:pt idx="1">
                        <c:v>QOCA</c:v>
                      </c:pt>
                      <c:pt idx="2">
                        <c:v>CAVAN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Sheet3!$I$2:$I$4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2417.73</c:v>
                      </c:pt>
                      <c:pt idx="1">
                        <c:v>2431.94</c:v>
                      </c:pt>
                      <c:pt idx="2">
                        <c:v>2215.88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7544-49FB-98F0-43899440AA0D}"/>
                  </c:ext>
                </c:extLst>
              </c15:ser>
            </c15:filteredBarSeries>
            <c15:filteredB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Sheet3!$J$1</c15:sqref>
                        </c15:formulaRef>
                      </c:ext>
                    </c:extLst>
                    <c:strCache>
                      <c:ptCount val="1"/>
                      <c:pt idx="0">
                        <c:v>orta_endirim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3">
                          <a:lumMod val="60000"/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3">
                          <a:lumMod val="60000"/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3">
                          <a:lumMod val="60000"/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l"/>
                  </a:scene3d>
                  <a:sp3d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Sheet3!$A$2:$A$4</c15:sqref>
                        </c15:formulaRef>
                      </c:ext>
                    </c:extLst>
                    <c:strCache>
                      <c:ptCount val="3"/>
                      <c:pt idx="0">
                        <c:v>ORTA YASLI</c:v>
                      </c:pt>
                      <c:pt idx="1">
                        <c:v>QOCA</c:v>
                      </c:pt>
                      <c:pt idx="2">
                        <c:v>CAVAN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Sheet3!$J$2:$J$4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23.94</c:v>
                      </c:pt>
                      <c:pt idx="1">
                        <c:v>23.96</c:v>
                      </c:pt>
                      <c:pt idx="2">
                        <c:v>23.98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7544-49FB-98F0-43899440AA0D}"/>
                  </c:ext>
                </c:extLst>
              </c15:ser>
            </c15:filteredBarSeries>
          </c:ext>
        </c:extLst>
      </c:bar3DChart>
      <c:catAx>
        <c:axId val="657726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724704"/>
        <c:crosses val="autoZero"/>
        <c:auto val="1"/>
        <c:lblAlgn val="ctr"/>
        <c:lblOffset val="100"/>
        <c:noMultiLvlLbl val="0"/>
      </c:catAx>
      <c:valAx>
        <c:axId val="657724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726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1" i="0" u="none" strike="noStrike" kern="1200" spc="100" baseline="0">
              <a:solidFill>
                <a:schemeClr val="lt1">
                  <a:lumMod val="95000"/>
                </a:schemeClr>
              </a:solidFill>
              <a:effectLst>
                <a:outerShdw blurRad="50800" dist="38100" dir="5400000" algn="t" rotWithShape="0">
                  <a:prstClr val="black">
                    <a:alpha val="40000"/>
                  </a:prstClr>
                </a:outerShdw>
              </a:effectLst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clustered"/>
        <c:varyColors val="0"/>
        <c:ser>
          <c:idx val="4"/>
          <c:order val="4"/>
          <c:tx>
            <c:strRef>
              <c:f>Sheet3!$F$1</c:f>
              <c:strCache>
                <c:ptCount val="1"/>
                <c:pt idx="0">
                  <c:v>QRUP_menfeet</c:v>
                </c:pt>
              </c:strCache>
            </c:strRef>
          </c:tx>
          <c:spPr>
            <a:gradFill rotWithShape="1">
              <a:gsLst>
                <a:gs pos="0">
                  <a:schemeClr val="accent5">
                    <a:satMod val="103000"/>
                    <a:lumMod val="102000"/>
                    <a:tint val="94000"/>
                  </a:schemeClr>
                </a:gs>
                <a:gs pos="50000">
                  <a:schemeClr val="accent5">
                    <a:satMod val="110000"/>
                    <a:lumMod val="100000"/>
                    <a:shade val="100000"/>
                  </a:schemeClr>
                </a:gs>
                <a:gs pos="100000">
                  <a:schemeClr val="accent5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Sheet3!$A$2:$A$4</c:f>
              <c:strCache>
                <c:ptCount val="3"/>
                <c:pt idx="0">
                  <c:v>ORTA YASLI</c:v>
                </c:pt>
                <c:pt idx="1">
                  <c:v>QOCA</c:v>
                </c:pt>
                <c:pt idx="2">
                  <c:v>CAVAN</c:v>
                </c:pt>
              </c:strCache>
            </c:strRef>
          </c:cat>
          <c:val>
            <c:numRef>
              <c:f>Sheet3!$F$2:$F$4</c:f>
              <c:numCache>
                <c:formatCode>General</c:formatCode>
                <c:ptCount val="3"/>
                <c:pt idx="0">
                  <c:v>183498</c:v>
                </c:pt>
                <c:pt idx="1">
                  <c:v>174779</c:v>
                </c:pt>
                <c:pt idx="2">
                  <c:v>114927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1B5-423F-B11F-DE05123B6E24}"/>
            </c:ext>
          </c:extLst>
        </c:ser>
        <c:ser>
          <c:idx val="5"/>
          <c:order val="5"/>
          <c:tx>
            <c:strRef>
              <c:f>Sheet3!$G$1</c:f>
              <c:strCache>
                <c:ptCount val="1"/>
                <c:pt idx="0">
                  <c:v>UMUMI_SATIS</c:v>
                </c:pt>
              </c:strCache>
            </c:strRef>
          </c:tx>
          <c:spPr>
            <a:gradFill rotWithShape="1">
              <a:gsLst>
                <a:gs pos="0">
                  <a:schemeClr val="accent6">
                    <a:satMod val="103000"/>
                    <a:lumMod val="102000"/>
                    <a:tint val="94000"/>
                  </a:schemeClr>
                </a:gs>
                <a:gs pos="50000">
                  <a:schemeClr val="accent6">
                    <a:satMod val="110000"/>
                    <a:lumMod val="100000"/>
                    <a:shade val="100000"/>
                  </a:schemeClr>
                </a:gs>
                <a:gs pos="100000">
                  <a:schemeClr val="accent6"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Sheet3!$A$2:$A$4</c:f>
              <c:strCache>
                <c:ptCount val="3"/>
                <c:pt idx="0">
                  <c:v>ORTA YASLI</c:v>
                </c:pt>
                <c:pt idx="1">
                  <c:v>QOCA</c:v>
                </c:pt>
                <c:pt idx="2">
                  <c:v>CAVAN</c:v>
                </c:pt>
              </c:strCache>
            </c:strRef>
          </c:cat>
          <c:val>
            <c:numRef>
              <c:f>Sheet3!$G$2:$G$4</c:f>
              <c:numCache>
                <c:formatCode>General</c:formatCode>
                <c:ptCount val="3"/>
                <c:pt idx="0">
                  <c:v>928407</c:v>
                </c:pt>
                <c:pt idx="1">
                  <c:v>749038</c:v>
                </c:pt>
                <c:pt idx="2">
                  <c:v>726807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1B5-423F-B11F-DE05123B6E24}"/>
            </c:ext>
          </c:extLst>
        </c:ser>
        <c:ser>
          <c:idx val="6"/>
          <c:order val="6"/>
          <c:tx>
            <c:strRef>
              <c:f>Sheet3!$H$1</c:f>
              <c:strCache>
                <c:ptCount val="1"/>
                <c:pt idx="0">
                  <c:v>Menfeet_faizi</c:v>
                </c:pt>
              </c:strCache>
            </c:strRef>
          </c:tx>
          <c:spPr>
            <a:gradFill rotWithShape="1">
              <a:gsLst>
                <a:gs pos="0">
                  <a:schemeClr val="accent1">
                    <a:lumMod val="60000"/>
                    <a:satMod val="103000"/>
                    <a:lumMod val="102000"/>
                    <a:tint val="94000"/>
                  </a:schemeClr>
                </a:gs>
                <a:gs pos="50000">
                  <a:schemeClr val="accent1">
                    <a:lumMod val="60000"/>
                    <a:satMod val="110000"/>
                    <a:lumMod val="100000"/>
                    <a:shade val="100000"/>
                  </a:schemeClr>
                </a:gs>
                <a:gs pos="100000">
                  <a:schemeClr val="accent1">
                    <a:lumMod val="60000"/>
                    <a:lumMod val="99000"/>
                    <a:satMod val="120000"/>
                    <a:shade val="78000"/>
                  </a:schemeClr>
                </a:gs>
              </a:gsLst>
              <a:lin ang="5400000" scaled="0"/>
            </a:gradFill>
            <a:ln>
              <a:noFill/>
            </a:ln>
            <a:effectLst>
              <a:outerShdw blurRad="57150" dist="19050" dir="5400000" algn="ctr" rotWithShape="0">
                <a:srgbClr val="000000">
                  <a:alpha val="63000"/>
                </a:srgbClr>
              </a:outerShdw>
            </a:effectLst>
            <a:scene3d>
              <a:camera prst="orthographicFront">
                <a:rot lat="0" lon="0" rev="0"/>
              </a:camera>
              <a:lightRig rig="threePt" dir="tl"/>
            </a:scene3d>
            <a:sp3d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lt1">
                        <a:lumMod val="8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 xmlns:c15="http://schemas.microsoft.com/office/drawing/2012/chart"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lt1">
                          <a:lumMod val="95000"/>
                          <a:alpha val="54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Sheet3!$A$2:$A$4</c:f>
              <c:strCache>
                <c:ptCount val="3"/>
                <c:pt idx="0">
                  <c:v>ORTA YASLI</c:v>
                </c:pt>
                <c:pt idx="1">
                  <c:v>QOCA</c:v>
                </c:pt>
                <c:pt idx="2">
                  <c:v>CAVAN</c:v>
                </c:pt>
              </c:strCache>
            </c:strRef>
          </c:cat>
          <c:val>
            <c:numRef>
              <c:f>Sheet3!$H$2:$H$4</c:f>
              <c:numCache>
                <c:formatCode>0%</c:formatCode>
                <c:ptCount val="3"/>
                <c:pt idx="0">
                  <c:v>0.2</c:v>
                </c:pt>
                <c:pt idx="1">
                  <c:v>0.23</c:v>
                </c:pt>
                <c:pt idx="2">
                  <c:v>0.16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1B5-423F-B11F-DE05123B6E2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00"/>
        <c:shape val="box"/>
        <c:axId val="657726144"/>
        <c:axId val="657724704"/>
        <c:axId val="0"/>
        <c:extLst>
          <c:ext xmlns:c15="http://schemas.microsoft.com/office/drawing/2012/chart" uri="{02D57815-91ED-43cb-92C2-25804820EDAC}">
            <c15:filteredBarSeries>
              <c15:ser>
                <c:idx val="0"/>
                <c:order val="0"/>
                <c:tx>
                  <c:strRef>
                    <c:extLst>
                      <c:ext uri="{02D57815-91ED-43cb-92C2-25804820EDAC}">
                        <c15:formulaRef>
                          <c15:sqref>Sheet3!$B$1</c15:sqref>
                        </c15:formulaRef>
                      </c:ext>
                    </c:extLst>
                    <c:strCache>
                      <c:ptCount val="1"/>
                      <c:pt idx="0">
                        <c:v>musteri_sayi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1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1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1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l"/>
                  </a:scene3d>
                  <a:sp3d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>
                    <c:ext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>
                      <c:ext uri="{02D57815-91ED-43cb-92C2-25804820EDAC}">
                        <c15:formulaRef>
                          <c15:sqref>Sheet3!$A$2:$A$4</c15:sqref>
                        </c15:formulaRef>
                      </c:ext>
                    </c:extLst>
                    <c:strCache>
                      <c:ptCount val="3"/>
                      <c:pt idx="0">
                        <c:v>ORTA YASLI</c:v>
                      </c:pt>
                      <c:pt idx="1">
                        <c:v>QOCA</c:v>
                      </c:pt>
                      <c:pt idx="2">
                        <c:v>CAVAN</c:v>
                      </c:pt>
                    </c:strCache>
                  </c:strRef>
                </c:cat>
                <c:val>
                  <c:numRef>
                    <c:extLst>
                      <c:ext uri="{02D57815-91ED-43cb-92C2-25804820EDAC}">
                        <c15:formulaRef>
                          <c15:sqref>Sheet3!$B$2:$B$4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64</c:v>
                      </c:pt>
                      <c:pt idx="1">
                        <c:v>53</c:v>
                      </c:pt>
                      <c:pt idx="2">
                        <c:v>59</c:v>
                      </c:pt>
                    </c:numCache>
                  </c:numRef>
                </c:val>
                <c:extLst>
                  <c:ext xmlns:c16="http://schemas.microsoft.com/office/drawing/2014/chart" uri="{C3380CC4-5D6E-409C-BE32-E72D297353CC}">
                    <c16:uniqueId val="{00000003-01B5-423F-B11F-DE05123B6E24}"/>
                  </c:ext>
                </c:extLst>
              </c15:ser>
            </c15:filteredBarSeries>
            <c15:filteredBarSeries>
              <c15:ser>
                <c:idx val="1"/>
                <c:order val="1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Sheet3!$C$1</c15:sqref>
                        </c15:formulaRef>
                      </c:ext>
                    </c:extLst>
                    <c:strCache>
                      <c:ptCount val="1"/>
                      <c:pt idx="0">
                        <c:v>Qaytarilan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2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2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2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l"/>
                  </a:scene3d>
                  <a:sp3d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Sheet3!$A$2:$A$4</c15:sqref>
                        </c15:formulaRef>
                      </c:ext>
                    </c:extLst>
                    <c:strCache>
                      <c:ptCount val="3"/>
                      <c:pt idx="0">
                        <c:v>ORTA YASLI</c:v>
                      </c:pt>
                      <c:pt idx="1">
                        <c:v>QOCA</c:v>
                      </c:pt>
                      <c:pt idx="2">
                        <c:v>CAVAN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Sheet3!$C$2:$C$4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418</c:v>
                      </c:pt>
                      <c:pt idx="1">
                        <c:v>341</c:v>
                      </c:pt>
                      <c:pt idx="2">
                        <c:v>256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4-01B5-423F-B11F-DE05123B6E24}"/>
                  </c:ext>
                </c:extLst>
              </c15:ser>
            </c15:filteredBarSeries>
            <c15:filteredBarSeries>
              <c15:ser>
                <c:idx val="2"/>
                <c:order val="2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Sheet3!$D$1</c15:sqref>
                        </c15:formulaRef>
                      </c:ext>
                    </c:extLst>
                    <c:strCache>
                      <c:ptCount val="1"/>
                      <c:pt idx="0">
                        <c:v>cem_mehsul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3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3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3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l"/>
                  </a:scene3d>
                  <a:sp3d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Sheet3!$A$2:$A$4</c15:sqref>
                        </c15:formulaRef>
                      </c:ext>
                    </c:extLst>
                    <c:strCache>
                      <c:ptCount val="3"/>
                      <c:pt idx="0">
                        <c:v>ORTA YASLI</c:v>
                      </c:pt>
                      <c:pt idx="1">
                        <c:v>QOCA</c:v>
                      </c:pt>
                      <c:pt idx="2">
                        <c:v>CAVAN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Sheet3!$D$2:$D$4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1912</c:v>
                      </c:pt>
                      <c:pt idx="1">
                        <c:v>1491</c:v>
                      </c:pt>
                      <c:pt idx="2">
                        <c:v>1552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5-01B5-423F-B11F-DE05123B6E24}"/>
                  </c:ext>
                </c:extLst>
              </c15:ser>
            </c15:filteredBarSeries>
            <c15:filteredBarSeries>
              <c15:ser>
                <c:idx val="3"/>
                <c:order val="3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Sheet3!$E$1</c15:sqref>
                        </c15:formulaRef>
                      </c:ext>
                    </c:extLst>
                    <c:strCache>
                      <c:ptCount val="1"/>
                      <c:pt idx="0">
                        <c:v>QAytarilma_nisbeti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4"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4"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4"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l"/>
                  </a:scene3d>
                  <a:sp3d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Sheet3!$A$2:$A$4</c15:sqref>
                        </c15:formulaRef>
                      </c:ext>
                    </c:extLst>
                    <c:strCache>
                      <c:ptCount val="3"/>
                      <c:pt idx="0">
                        <c:v>ORTA YASLI</c:v>
                      </c:pt>
                      <c:pt idx="1">
                        <c:v>QOCA</c:v>
                      </c:pt>
                      <c:pt idx="2">
                        <c:v>CAVAN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Sheet3!$E$2:$E$4</c15:sqref>
                        </c15:formulaRef>
                      </c:ext>
                    </c:extLst>
                    <c:numCache>
                      <c:formatCode>0%</c:formatCode>
                      <c:ptCount val="3"/>
                      <c:pt idx="0">
                        <c:v>0.22</c:v>
                      </c:pt>
                      <c:pt idx="1">
                        <c:v>0.23</c:v>
                      </c:pt>
                      <c:pt idx="2">
                        <c:v>0.16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6-01B5-423F-B11F-DE05123B6E24}"/>
                  </c:ext>
                </c:extLst>
              </c15:ser>
            </c15:filteredBarSeries>
            <c15:filteredBarSeries>
              <c15:ser>
                <c:idx val="7"/>
                <c:order val="7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Sheet3!$I$1</c15:sqref>
                        </c15:formulaRef>
                      </c:ext>
                    </c:extLst>
                    <c:strCache>
                      <c:ptCount val="1"/>
                      <c:pt idx="0">
                        <c:v>orta_satis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2">
                          <a:lumMod val="60000"/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2">
                          <a:lumMod val="60000"/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2">
                          <a:lumMod val="60000"/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l"/>
                  </a:scene3d>
                  <a:sp3d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Sheet3!$A$2:$A$4</c15:sqref>
                        </c15:formulaRef>
                      </c:ext>
                    </c:extLst>
                    <c:strCache>
                      <c:ptCount val="3"/>
                      <c:pt idx="0">
                        <c:v>ORTA YASLI</c:v>
                      </c:pt>
                      <c:pt idx="1">
                        <c:v>QOCA</c:v>
                      </c:pt>
                      <c:pt idx="2">
                        <c:v>CAVAN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Sheet3!$I$2:$I$4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2417.73</c:v>
                      </c:pt>
                      <c:pt idx="1">
                        <c:v>2431.94</c:v>
                      </c:pt>
                      <c:pt idx="2">
                        <c:v>2215.88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7-01B5-423F-B11F-DE05123B6E24}"/>
                  </c:ext>
                </c:extLst>
              </c15:ser>
            </c15:filteredBarSeries>
            <c15:filteredBarSeries>
              <c15:ser>
                <c:idx val="8"/>
                <c:order val="8"/>
                <c:tx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Sheet3!$J$1</c15:sqref>
                        </c15:formulaRef>
                      </c:ext>
                    </c:extLst>
                    <c:strCache>
                      <c:ptCount val="1"/>
                      <c:pt idx="0">
                        <c:v>orta_endirim</c:v>
                      </c:pt>
                    </c:strCache>
                  </c:strRef>
                </c:tx>
                <c:spPr>
                  <a:gradFill rotWithShape="1">
                    <a:gsLst>
                      <a:gs pos="0">
                        <a:schemeClr val="accent3">
                          <a:lumMod val="60000"/>
                          <a:satMod val="103000"/>
                          <a:lumMod val="102000"/>
                          <a:tint val="94000"/>
                        </a:schemeClr>
                      </a:gs>
                      <a:gs pos="50000">
                        <a:schemeClr val="accent3">
                          <a:lumMod val="60000"/>
                          <a:satMod val="110000"/>
                          <a:lumMod val="100000"/>
                          <a:shade val="100000"/>
                        </a:schemeClr>
                      </a:gs>
                      <a:gs pos="100000">
                        <a:schemeClr val="accent3">
                          <a:lumMod val="60000"/>
                          <a:lumMod val="99000"/>
                          <a:satMod val="120000"/>
                          <a:shade val="78000"/>
                        </a:schemeClr>
                      </a:gs>
                    </a:gsLst>
                    <a:lin ang="5400000" scaled="0"/>
                  </a:gradFill>
                  <a:ln>
                    <a:noFill/>
                  </a:ln>
                  <a:effectLst>
                    <a:outerShdw blurRad="57150" dist="19050" dir="5400000" algn="ctr" rotWithShape="0">
                      <a:srgbClr val="000000">
                        <a:alpha val="63000"/>
                      </a:srgbClr>
                    </a:outerShdw>
                  </a:effectLst>
                  <a:scene3d>
                    <a:camera prst="orthographicFront">
                      <a:rot lat="0" lon="0" rev="0"/>
                    </a:camera>
                    <a:lightRig rig="threePt" dir="tl"/>
                  </a:scene3d>
                  <a:sp3d/>
                </c:spPr>
                <c:invertIfNegative val="0"/>
                <c:dLbls>
                  <c:spPr>
                    <a:noFill/>
                    <a:ln>
                      <a:noFill/>
                    </a:ln>
                    <a:effectLst/>
                  </c:spPr>
                  <c:txPr>
                    <a:bodyPr rot="0" spcFirstLastPara="1" vertOverflow="ellipsis" vert="horz" wrap="square" lIns="38100" tIns="19050" rIns="38100" bIns="19050" anchor="ctr" anchorCtr="1">
                      <a:spAutoFit/>
                    </a:bodyPr>
                    <a:lstStyle/>
                    <a:p>
                      <a:pPr>
                        <a:defRPr sz="900" b="0" i="0" u="none" strike="noStrike" kern="1200" baseline="0">
                          <a:solidFill>
                            <a:schemeClr val="lt1">
                              <a:lumMod val="85000"/>
                            </a:schemeClr>
                          </a:solidFill>
                          <a:latin typeface="+mn-lt"/>
                          <a:ea typeface="+mn-ea"/>
                          <a:cs typeface="+mn-cs"/>
                        </a:defRPr>
                      </a:pPr>
                      <a:endParaRPr lang="en-US"/>
                    </a:p>
                  </c:txPr>
                  <c:showLegendKey val="0"/>
                  <c:showVal val="1"/>
                  <c:showCatName val="0"/>
                  <c:showSerName val="0"/>
                  <c:showPercent val="0"/>
                  <c:showBubbleSize val="0"/>
                  <c:showLeaderLines val="0"/>
                  <c:extLst xmlns:c15="http://schemas.microsoft.com/office/drawing/2012/chart">
                    <c:ext xmlns:c15="http://schemas.microsoft.com/office/drawing/2012/chart" uri="{CE6537A1-D6FC-4f65-9D91-7224C49458BB}">
                      <c15:showLeaderLines val="1"/>
                      <c15:leaderLines>
                        <c:spPr>
                          <a:ln w="9525">
                            <a:solidFill>
                              <a:schemeClr val="lt1">
                                <a:lumMod val="95000"/>
                                <a:alpha val="54000"/>
                              </a:schemeClr>
                            </a:solidFill>
                          </a:ln>
                          <a:effectLst/>
                        </c:spPr>
                      </c15:leaderLines>
                    </c:ext>
                  </c:extLst>
                </c:dLbls>
                <c:cat>
                  <c:str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Sheet3!$A$2:$A$4</c15:sqref>
                        </c15:formulaRef>
                      </c:ext>
                    </c:extLst>
                    <c:strCache>
                      <c:ptCount val="3"/>
                      <c:pt idx="0">
                        <c:v>ORTA YASLI</c:v>
                      </c:pt>
                      <c:pt idx="1">
                        <c:v>QOCA</c:v>
                      </c:pt>
                      <c:pt idx="2">
                        <c:v>CAVAN</c:v>
                      </c:pt>
                    </c:strCache>
                  </c:strRef>
                </c:cat>
                <c:val>
                  <c:numRef>
                    <c:extLst xmlns:c15="http://schemas.microsoft.com/office/drawing/2012/chart">
                      <c:ext xmlns:c15="http://schemas.microsoft.com/office/drawing/2012/chart" uri="{02D57815-91ED-43cb-92C2-25804820EDAC}">
                        <c15:formulaRef>
                          <c15:sqref>Sheet3!$J$2:$J$4</c15:sqref>
                        </c15:formulaRef>
                      </c:ext>
                    </c:extLst>
                    <c:numCache>
                      <c:formatCode>General</c:formatCode>
                      <c:ptCount val="3"/>
                      <c:pt idx="0">
                        <c:v>23.94</c:v>
                      </c:pt>
                      <c:pt idx="1">
                        <c:v>23.96</c:v>
                      </c:pt>
                      <c:pt idx="2">
                        <c:v>23.98</c:v>
                      </c:pt>
                    </c:numCache>
                  </c:numRef>
                </c:val>
                <c:extLst xmlns:c15="http://schemas.microsoft.com/office/drawing/2012/chart">
                  <c:ext xmlns:c16="http://schemas.microsoft.com/office/drawing/2014/chart" uri="{C3380CC4-5D6E-409C-BE32-E72D297353CC}">
                    <c16:uniqueId val="{00000008-01B5-423F-B11F-DE05123B6E24}"/>
                  </c:ext>
                </c:extLst>
              </c15:ser>
            </c15:filteredBarSeries>
          </c:ext>
        </c:extLst>
      </c:bar3DChart>
      <c:catAx>
        <c:axId val="657726144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12700" cap="flat" cmpd="sng" algn="ctr">
            <a:solidFill>
              <a:schemeClr val="lt1">
                <a:lumMod val="95000"/>
                <a:alpha val="54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724704"/>
        <c:crosses val="autoZero"/>
        <c:auto val="1"/>
        <c:lblAlgn val="ctr"/>
        <c:lblOffset val="100"/>
        <c:noMultiLvlLbl val="0"/>
      </c:catAx>
      <c:valAx>
        <c:axId val="65772470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lt1">
                  <a:lumMod val="95000"/>
                  <a:alpha val="10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>
                    <a:lumMod val="8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65772614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dk1">
            <a:lumMod val="65000"/>
            <a:lumOff val="35000"/>
          </a:schemeClr>
        </a:gs>
        <a:gs pos="100000">
          <a:schemeClr val="dk1">
            <a:lumMod val="85000"/>
            <a:lumOff val="15000"/>
          </a:schemeClr>
        </a:gs>
      </a:gsLst>
      <a:path path="circle">
        <a:fillToRect l="50000" t="50000" r="50000" b="50000"/>
      </a:path>
      <a:tileRect/>
    </a:gradFill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2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3.xml><?xml version="1.0" encoding="utf-8"?>
<cs:colorStyle xmlns:cs="http://schemas.microsoft.com/office/drawing/2012/chartStyle" xmlns:a="http://schemas.openxmlformats.org/drawingml/2006/main" meth="cycle" id="12">
  <a:schemeClr val="accent2"/>
  <a:schemeClr val="accent4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8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38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defRPr sz="900" kern="1200" spc="3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lt1">
            <a:lumMod val="85000"/>
          </a:schemeClr>
        </a:solidFill>
        <a:round/>
      </a:ln>
    </cs:spPr>
    <cs:defRPr sz="1000" kern="1200"/>
  </cs:chartArea>
  <cs:dataLabel>
    <cs:lnRef idx="0"/>
    <cs:fillRef idx="0">
      <cs:styleClr val="0"/>
    </cs:fillRef>
    <cs:effectRef idx="0"/>
    <cs:fontRef idx="minor">
      <a:schemeClr val="lt1"/>
    </cs:fontRef>
    <cs:spPr>
      <a:solidFill>
        <a:schemeClr val="phClr"/>
      </a:solidFill>
    </cs:spPr>
    <cs:defRPr sz="900" b="1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25400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</cs:spPr>
  </cs:dataPointMarker>
  <cs:dataPointMarkerLayout symbol="circle" size="14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0">
              <a:schemeClr val="lt1"/>
            </a:gs>
            <a:gs pos="100000">
              <a:schemeClr val="lt1">
                <a:alpha val="0"/>
              </a:schemeClr>
            </a:gs>
          </a:gsLst>
          <a:lin ang="5400000" scaled="0"/>
        </a:gradFill>
        <a:round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22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ize="5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4.xml><?xml version="1.0" encoding="utf-8"?>
<cs:chartStyle xmlns:cs="http://schemas.microsoft.com/office/drawing/2012/chartStyle" xmlns:a="http://schemas.openxmlformats.org/drawingml/2006/main" id="294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/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dk1">
            <a:lumMod val="50000"/>
            <a:lumOff val="5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dk1">
            <a:lumMod val="60000"/>
            <a:lumOff val="40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/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5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6.xml><?xml version="1.0" encoding="utf-8"?>
<cs:chartStyle xmlns:cs="http://schemas.microsoft.com/office/drawing/2012/chartStyle" xmlns:a="http://schemas.openxmlformats.org/drawingml/2006/main" id="26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328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gradFill>
        <a:gsLst>
          <a:gs pos="100000">
            <a:schemeClr val="dk1">
              <a:lumMod val="95000"/>
              <a:lumOff val="5000"/>
            </a:schemeClr>
          </a:gs>
          <a:gs pos="0">
            <a:schemeClr val="dk1">
              <a:lumMod val="75000"/>
              <a:lumOff val="25000"/>
            </a:schemeClr>
          </a:gs>
        </a:gsLst>
        <a:path path="circle">
          <a:fillToRect l="50000" t="50000" r="50000" b="50000"/>
        </a:path>
      </a:gradFill>
      <a:ln w="9525">
        <a:solidFill>
          <a:schemeClr val="dk1">
            <a:lumMod val="75000"/>
            <a:lumOff val="2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lt1"/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tx1"/>
    </cs:fontRef>
  </cs:plotArea>
  <cs:plotArea3D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gradFill>
        <a:gsLst>
          <a:gs pos="100000">
            <a:schemeClr val="lt1">
              <a:lumMod val="85000"/>
            </a:schemeClr>
          </a:gs>
          <a:gs pos="0">
            <a:schemeClr val="lt1"/>
          </a:gs>
        </a:gsLst>
        <a:path path="circle">
          <a:fillToRect l="50000" t="50000" r="50000" b="50000"/>
        </a:path>
      </a:gradFill>
      <a:ln w="9525" cap="flat" cmpd="sng" algn="ctr">
        <a:solidFill>
          <a:schemeClr val="lt1"/>
        </a:solidFill>
        <a:round/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tx1"/>
    </cs:fontRef>
  </cs:wall>
</cs:chartStyle>
</file>

<file path=ppt/charts/style8.xml><?xml version="1.0" encoding="utf-8"?>
<cs:chartStyle xmlns:cs="http://schemas.microsoft.com/office/drawing/2012/chartStyle" xmlns:a="http://schemas.openxmlformats.org/drawingml/2006/main" id="35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2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tx1"/>
    </cs:fontRef>
  </cs:dataPoint>
  <cs:dataPoint3D>
    <cs:lnRef idx="0"/>
    <cs:fillRef idx="3">
      <cs:styleClr val="auto"/>
    </cs:fillRef>
    <cs:effectRef idx="3"/>
    <cs:fontRef idx="minor">
      <a:schemeClr val="tx1"/>
    </cs:fontRef>
  </cs:dataPoint3D>
  <cs:dataPointLine>
    <cs:lnRef idx="0">
      <cs:styleClr val="auto"/>
    </cs:lnRef>
    <cs:fillRef idx="3"/>
    <cs:effectRef idx="3"/>
    <cs:fontRef idx="minor">
      <a:schemeClr val="tx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tx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12700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600" b="1" kern="1200" baseline="0"/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9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charts/style10.xml><?xml version="1.0" encoding="utf-8"?>
<cs:chartStyle xmlns:cs="http://schemas.microsoft.com/office/drawing/2012/chartStyle" xmlns:a="http://schemas.openxmlformats.org/drawingml/2006/main" id="209">
  <cs:axisTitle>
    <cs:lnRef idx="0"/>
    <cs:fillRef idx="0"/>
    <cs:effectRef idx="0"/>
    <cs:fontRef idx="minor">
      <a:schemeClr val="lt1">
        <a:lumMod val="85000"/>
      </a:schemeClr>
    </cs:fontRef>
    <cs:defRPr sz="900" b="1" kern="1200" cap="all"/>
  </cs:axisTitle>
  <cs:category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dk1">
              <a:lumMod val="65000"/>
              <a:lumOff val="35000"/>
            </a:schemeClr>
          </a:gs>
          <a:gs pos="100000">
            <a:schemeClr val="dk1">
              <a:lumMod val="85000"/>
              <a:lumOff val="15000"/>
            </a:schemeClr>
          </a:gs>
        </a:gsLst>
        <a:path path="circle">
          <a:fillToRect l="50000" t="50000" r="50000" b="50000"/>
        </a:path>
        <a:tileRect/>
      </a:gradFill>
    </cs:spPr>
    <cs:defRPr sz="1000" kern="1200"/>
  </cs:chartArea>
  <cs:dataLabel>
    <cs:lnRef idx="0"/>
    <cs:fillRef idx="0"/>
    <cs:effectRef idx="0"/>
    <cs:fontRef idx="minor">
      <a:schemeClr val="lt1">
        <a:lumMod val="8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3">
      <cs:styleClr val="auto"/>
    </cs:fillRef>
    <cs:effectRef idx="3"/>
    <cs:fontRef idx="minor">
      <a:schemeClr val="lt1"/>
    </cs:fontRef>
  </cs:dataPoint>
  <cs:dataPoint3D>
    <cs:lnRef idx="0"/>
    <cs:fillRef idx="3">
      <cs:styleClr val="auto"/>
    </cs:fillRef>
    <cs:effectRef idx="3"/>
    <cs:fontRef idx="minor">
      <a:schemeClr val="lt1"/>
    </cs:fontRef>
  </cs:dataPoint3D>
  <cs:dataPointLine>
    <cs:lnRef idx="0">
      <cs:styleClr val="auto"/>
    </cs:lnRef>
    <cs:fillRef idx="3"/>
    <cs:effectRef idx="3"/>
    <cs:fontRef idx="minor">
      <a:schemeClr val="lt1"/>
    </cs:fontRef>
    <cs:spPr>
      <a:ln w="3492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3">
      <cs:styleClr val="auto"/>
    </cs:fillRef>
    <cs:effectRef idx="3"/>
    <cs:fontRef idx="minor">
      <a:schemeClr val="lt1"/>
    </cs:fontRef>
    <cs:spPr>
      <a:ln w="9525">
        <a:solidFill>
          <a:schemeClr val="phClr"/>
        </a:solidFill>
        <a:round/>
      </a:ln>
    </cs:spPr>
  </cs:dataPointMarker>
  <cs:dataPointMarkerLayout symbol="circle" size="6"/>
  <cs:dataPointWireframe>
    <cs:lnRef idx="0">
      <cs:styleClr val="auto"/>
    </cs:lnRef>
    <cs:fillRef idx="3"/>
    <cs:effectRef idx="3"/>
    <cs:fontRef idx="minor">
      <a:schemeClr val="lt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lt1">
        <a:lumMod val="85000"/>
      </a:schemeClr>
    </cs:fontRef>
    <cs:spPr>
      <a:ln w="9525">
        <a:solidFill>
          <a:schemeClr val="lt1">
            <a:lumMod val="95000"/>
            <a:alpha val="54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lt1"/>
    </cs:fontRef>
    <cs:spPr>
      <a:solidFill>
        <a:schemeClr val="dk1">
          <a:lumMod val="75000"/>
          <a:lumOff val="25000"/>
        </a:schemeClr>
      </a:solidFill>
      <a:ln w="9525">
        <a:solidFill>
          <a:schemeClr val="lt1">
            <a:lumMod val="95000"/>
            <a:alpha val="54000"/>
          </a:schemeClr>
        </a:solidFill>
      </a:ln>
    </cs:spPr>
  </cs:downBar>
  <cs:drop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</a:schemeClr>
        </a:solidFill>
        <a:round/>
      </a:ln>
    </cs:spPr>
  </cs:errorBar>
  <cs:floor>
    <cs:lnRef idx="0"/>
    <cs:fillRef idx="0"/>
    <cs:effectRef idx="0"/>
    <cs:fontRef idx="minor">
      <a:schemeClr val="lt1"/>
    </cs:fontRef>
  </cs:floor>
  <cs:gridlineMajor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10000"/>
          </a:schemeClr>
        </a:solidFill>
        <a:round/>
      </a:ln>
    </cs:spPr>
  </cs:gridlineMajor>
  <cs:gridlineMinor>
    <cs:lnRef idx="0"/>
    <cs:fillRef idx="0"/>
    <cs:effectRef idx="0"/>
    <cs:fontRef idx="minor">
      <a:schemeClr val="lt1"/>
    </cs:fontRef>
    <cs:spPr>
      <a:ln>
        <a:solidFill>
          <a:schemeClr val="lt1">
            <a:lumMod val="95000"/>
            <a:alpha val="5000"/>
          </a:schemeClr>
        </a:solidFill>
      </a:ln>
    </cs:spPr>
  </cs:gridlineMinor>
  <cs:hiLo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lt1"/>
    </cs:fontRef>
    <cs:spPr>
      <a:ln w="9525">
        <a:solidFill>
          <a:schemeClr val="lt1">
            <a:lumMod val="95000"/>
            <a:alpha val="54000"/>
          </a:schemeClr>
        </a:solidFill>
      </a:ln>
    </cs:spPr>
  </cs:leaderLine>
  <cs:legend>
    <cs:lnRef idx="0"/>
    <cs:fillRef idx="0"/>
    <cs:effectRef idx="0"/>
    <cs:fontRef idx="minor">
      <a:schemeClr val="lt1">
        <a:lumMod val="85000"/>
      </a:schemeClr>
    </cs:fontRef>
    <cs:defRPr sz="900" kern="1200"/>
  </cs:legend>
  <cs:plotArea>
    <cs:lnRef idx="0"/>
    <cs:fillRef idx="0"/>
    <cs:effectRef idx="0"/>
    <cs:fontRef idx="minor">
      <a:schemeClr val="lt1"/>
    </cs:fontRef>
  </cs:plotArea>
  <cs:plotArea3D>
    <cs:lnRef idx="0"/>
    <cs:fillRef idx="0"/>
    <cs:effectRef idx="0"/>
    <cs:fontRef idx="minor">
      <a:schemeClr val="lt1"/>
    </cs:fontRef>
  </cs:plotArea3D>
  <cs:seriesAxis>
    <cs:lnRef idx="0"/>
    <cs:fillRef idx="0"/>
    <cs:effectRef idx="0"/>
    <cs:fontRef idx="minor">
      <a:schemeClr val="lt1">
        <a:lumMod val="85000"/>
      </a:schemeClr>
    </cs:fontRef>
    <cs:spPr>
      <a:ln w="12700" cap="flat" cmpd="sng" algn="ctr">
        <a:solidFill>
          <a:schemeClr val="lt1">
            <a:lumMod val="95000"/>
            <a:alpha val="54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lt1"/>
    </cs:fontRef>
    <cs:spPr>
      <a:ln w="9525" cap="flat" cmpd="sng" algn="ctr">
        <a:solidFill>
          <a:schemeClr val="lt1">
            <a:lumMod val="95000"/>
            <a:alpha val="54000"/>
          </a:schemeClr>
        </a:solidFill>
        <a:round/>
      </a:ln>
    </cs:spPr>
  </cs:seriesLine>
  <cs:title>
    <cs:lnRef idx="0"/>
    <cs:fillRef idx="0"/>
    <cs:effectRef idx="0"/>
    <cs:fontRef idx="minor">
      <a:schemeClr val="lt1">
        <a:lumMod val="95000"/>
      </a:schemeClr>
    </cs:fontRef>
    <cs:defRPr sz="1600" b="1" kern="1200" spc="100" baseline="0">
      <a:effectLst>
        <a:outerShdw blurRad="50800" dist="38100" dir="5400000" algn="t" rotWithShape="0">
          <a:prstClr val="black">
            <a:alpha val="40000"/>
          </a:prstClr>
        </a:outerShdw>
      </a:effectLst>
    </cs:defRPr>
  </cs:title>
  <cs:trendline>
    <cs:lnRef idx="0">
      <cs:styleClr val="auto"/>
    </cs:lnRef>
    <cs:fillRef idx="0"/>
    <cs:effectRef idx="0"/>
    <cs:fontRef idx="minor">
      <a:schemeClr val="lt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lt1">
        <a:lumMod val="85000"/>
      </a:schemeClr>
    </cs:fontRef>
    <cs:defRPr sz="900" kern="1200"/>
  </cs:trendlineLabel>
  <cs:upBar>
    <cs:lnRef idx="0"/>
    <cs:fillRef idx="0"/>
    <cs:effectRef idx="0"/>
    <cs:fontRef idx="minor">
      <a:schemeClr val="lt1"/>
    </cs:fontRef>
    <cs:spPr>
      <a:solidFill>
        <a:schemeClr val="lt1"/>
      </a:solidFill>
      <a:ln w="9525">
        <a:solidFill>
          <a:schemeClr val="lt1">
            <a:lumMod val="95000"/>
            <a:alpha val="54000"/>
          </a:schemeClr>
        </a:solidFill>
      </a:ln>
    </cs:spPr>
  </cs:upBar>
  <cs:valueAxis>
    <cs:lnRef idx="0"/>
    <cs:fillRef idx="0"/>
    <cs:effectRef idx="0"/>
    <cs:fontRef idx="minor">
      <a:schemeClr val="lt1">
        <a:lumMod val="85000"/>
      </a:schemeClr>
    </cs:fontRef>
    <cs:defRPr sz="900" kern="1200"/>
  </cs:valueAxis>
  <cs:wall>
    <cs:lnRef idx="0"/>
    <cs:fillRef idx="0"/>
    <cs:effectRef idx="0"/>
    <cs:fontRef idx="minor">
      <a:schemeClr val="lt1"/>
    </cs:fontRef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9445-49DE-4224-9246-3A6F1A2AFA0E}" type="datetimeFigureOut">
              <a:rPr lang="en-US" smtClean="0"/>
              <a:t>31.05.2026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EC0D4-E74C-4F28-A9C5-F561E19D1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067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9445-49DE-4224-9246-3A6F1A2AFA0E}" type="datetimeFigureOut">
              <a:rPr lang="en-US" smtClean="0"/>
              <a:t>31.05.2026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EC0D4-E74C-4F28-A9C5-F561E19D1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15390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9445-49DE-4224-9246-3A6F1A2AFA0E}" type="datetimeFigureOut">
              <a:rPr lang="en-US" smtClean="0"/>
              <a:t>31.05.2026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EC0D4-E74C-4F28-A9C5-F561E19D1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82927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9445-49DE-4224-9246-3A6F1A2AFA0E}" type="datetimeFigureOut">
              <a:rPr lang="en-US" smtClean="0"/>
              <a:t>31.05.2026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EC0D4-E74C-4F28-A9C5-F561E19D1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784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9445-49DE-4224-9246-3A6F1A2AFA0E}" type="datetimeFigureOut">
              <a:rPr lang="en-US" smtClean="0"/>
              <a:t>31.05.2026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EC0D4-E74C-4F28-A9C5-F561E19D1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9963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9445-49DE-4224-9246-3A6F1A2AFA0E}" type="datetimeFigureOut">
              <a:rPr lang="en-US" smtClean="0"/>
              <a:t>31.05.2026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EC0D4-E74C-4F28-A9C5-F561E19D1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6167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9445-49DE-4224-9246-3A6F1A2AFA0E}" type="datetimeFigureOut">
              <a:rPr lang="en-US" smtClean="0"/>
              <a:t>31.05.2026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EC0D4-E74C-4F28-A9C5-F561E19D1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16491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9445-49DE-4224-9246-3A6F1A2AFA0E}" type="datetimeFigureOut">
              <a:rPr lang="en-US" smtClean="0"/>
              <a:t>31.05.2026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EC0D4-E74C-4F28-A9C5-F561E19D1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65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9445-49DE-4224-9246-3A6F1A2AFA0E}" type="datetimeFigureOut">
              <a:rPr lang="en-US" smtClean="0"/>
              <a:t>31.05.2026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EC0D4-E74C-4F28-A9C5-F561E19D1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9484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9445-49DE-4224-9246-3A6F1A2AFA0E}" type="datetimeFigureOut">
              <a:rPr lang="en-US" smtClean="0"/>
              <a:t>31.05.2026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EC0D4-E74C-4F28-A9C5-F561E19D1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3916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9445-49DE-4224-9246-3A6F1A2AFA0E}" type="datetimeFigureOut">
              <a:rPr lang="en-US" smtClean="0"/>
              <a:t>31.05.2026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EC0D4-E74C-4F28-A9C5-F561E19D1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00600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9445-49DE-4224-9246-3A6F1A2AFA0E}" type="datetimeFigureOut">
              <a:rPr lang="en-US" smtClean="0"/>
              <a:t>31.05.2026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EC0D4-E74C-4F28-A9C5-F561E19D1EE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1387379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9445-49DE-4224-9246-3A6F1A2AFA0E}" type="datetimeFigureOut">
              <a:rPr lang="en-US" smtClean="0"/>
              <a:t>31.05.2026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EC0D4-E74C-4F28-A9C5-F561E19D1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78405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9445-49DE-4224-9246-3A6F1A2AFA0E}" type="datetimeFigureOut">
              <a:rPr lang="en-US" smtClean="0"/>
              <a:t>31.05.2026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EC0D4-E74C-4F28-A9C5-F561E19D1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552490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9445-49DE-4224-9246-3A6F1A2AFA0E}" type="datetimeFigureOut">
              <a:rPr lang="en-US" smtClean="0"/>
              <a:t>31.05.2026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EC0D4-E74C-4F28-A9C5-F561E19D1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2183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9445-49DE-4224-9246-3A6F1A2AFA0E}" type="datetimeFigureOut">
              <a:rPr lang="en-US" smtClean="0"/>
              <a:t>31.05.2026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EC0D4-E74C-4F28-A9C5-F561E19D1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03888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89445-49DE-4224-9246-3A6F1A2AFA0E}" type="datetimeFigureOut">
              <a:rPr lang="en-US" smtClean="0"/>
              <a:t>31.05.2026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CEC0D4-E74C-4F28-A9C5-F561E19D1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5745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F8189445-49DE-4224-9246-3A6F1A2AFA0E}" type="datetimeFigureOut">
              <a:rPr lang="en-US" smtClean="0"/>
              <a:t>31.05.2026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CEC0D4-E74C-4F28-A9C5-F561E19D1E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217808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3" Type="http://schemas.openxmlformats.org/officeDocument/2006/relationships/image" Target="../media/image2.png"/><Relationship Id="rId7" Type="http://schemas.openxmlformats.org/officeDocument/2006/relationships/image" Target="../media/image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jpeg"/><Relationship Id="rId4" Type="http://schemas.openxmlformats.org/officeDocument/2006/relationships/image" Target="../media/image3.png"/><Relationship Id="rId9" Type="http://schemas.openxmlformats.org/officeDocument/2006/relationships/image" Target="../media/image8.jpe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3" Type="http://schemas.openxmlformats.org/officeDocument/2006/relationships/slide" Target="slide4.xml"/><Relationship Id="rId7" Type="http://schemas.openxmlformats.org/officeDocument/2006/relationships/slide" Target="slide8.xml"/><Relationship Id="rId2" Type="http://schemas.openxmlformats.org/officeDocument/2006/relationships/slide" Target="slide3.xml"/><Relationship Id="rId1" Type="http://schemas.openxmlformats.org/officeDocument/2006/relationships/slideLayout" Target="../slideLayouts/slideLayout2.xml"/><Relationship Id="rId6" Type="http://schemas.openxmlformats.org/officeDocument/2006/relationships/slide" Target="slide7.xml"/><Relationship Id="rId11" Type="http://schemas.openxmlformats.org/officeDocument/2006/relationships/slide" Target="slide11.xml"/><Relationship Id="rId5" Type="http://schemas.openxmlformats.org/officeDocument/2006/relationships/slide" Target="slide6.xml"/><Relationship Id="rId10" Type="http://schemas.openxmlformats.org/officeDocument/2006/relationships/slide" Target="slide10.xml"/><Relationship Id="rId4" Type="http://schemas.openxmlformats.org/officeDocument/2006/relationships/slide" Target="slide5.xml"/><Relationship Id="rId9" Type="http://schemas.openxmlformats.org/officeDocument/2006/relationships/slide" Target="slide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slide" Target="slide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5" Type="http://schemas.openxmlformats.org/officeDocument/2006/relationships/slide" Target="slide2.xml"/><Relationship Id="rId4" Type="http://schemas.openxmlformats.org/officeDocument/2006/relationships/chart" Target="../charts/char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slide" Target="slide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9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Picture 53">
            <a:extLst>
              <a:ext uri="{FF2B5EF4-FFF2-40B4-BE49-F238E27FC236}">
                <a16:creationId xmlns:a16="http://schemas.microsoft.com/office/drawing/2014/main" id="{BD310164-D3A3-415E-9D94-5D21D9FB2F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BE586E08-18BF-4AB1-AB48-4005D56734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58" name="Oval 57">
            <a:extLst>
              <a:ext uri="{FF2B5EF4-FFF2-40B4-BE49-F238E27FC236}">
                <a16:creationId xmlns:a16="http://schemas.microsoft.com/office/drawing/2014/main" id="{4A497DBC-2692-42B4-A606-31024033F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60" name="Picture 59">
            <a:extLst>
              <a:ext uri="{FF2B5EF4-FFF2-40B4-BE49-F238E27FC236}">
                <a16:creationId xmlns:a16="http://schemas.microsoft.com/office/drawing/2014/main" id="{3517A192-66A9-4297-9284-65580829AB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130825ED-0133-430D-BBBB-50B6F52284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64" name="Rectangle 63">
            <a:extLst>
              <a:ext uri="{FF2B5EF4-FFF2-40B4-BE49-F238E27FC236}">
                <a16:creationId xmlns:a16="http://schemas.microsoft.com/office/drawing/2014/main" id="{633F040E-FA1C-4EDC-B925-7EFCB95828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7FDBBD3-F4C5-BACB-34E4-471E265169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458" y="4542502"/>
            <a:ext cx="9181185" cy="1189985"/>
          </a:xfrm>
        </p:spPr>
        <p:txBody>
          <a:bodyPr vert="horz" lIns="91440" tIns="45720" rIns="91440" bIns="45720" rtlCol="0" anchor="b">
            <a:noAutofit/>
          </a:bodyPr>
          <a:lstStyle/>
          <a:p>
            <a:pPr>
              <a:lnSpc>
                <a:spcPct val="90000"/>
              </a:lnSpc>
            </a:pPr>
            <a:r>
              <a:rPr lang="en-US" sz="2800" b="1" dirty="0"/>
              <a:t>E-Commerce </a:t>
            </a:r>
            <a:r>
              <a:rPr lang="en-US" sz="2800" b="1" dirty="0" err="1"/>
              <a:t>Satış</a:t>
            </a:r>
            <a:r>
              <a:rPr lang="en-US" sz="2800" b="1" dirty="0"/>
              <a:t> </a:t>
            </a:r>
            <a:r>
              <a:rPr lang="en-US" sz="2800" b="1" dirty="0" err="1"/>
              <a:t>Analizi</a:t>
            </a:r>
            <a:r>
              <a:rPr lang="en-US" sz="2800" b="1" dirty="0"/>
              <a:t> </a:t>
            </a:r>
            <a:br>
              <a:rPr lang="en-US" sz="2800" b="1" dirty="0"/>
            </a:br>
            <a:r>
              <a:rPr lang="en-US" sz="2800" b="1" dirty="0"/>
              <a:t>					</a:t>
            </a:r>
            <a:br>
              <a:rPr lang="en-US" sz="2800" b="1" dirty="0"/>
            </a:br>
            <a:r>
              <a:rPr lang="en-US" sz="2800" b="1" dirty="0" err="1"/>
              <a:t>Sadıqov</a:t>
            </a:r>
            <a:r>
              <a:rPr lang="en-US" sz="2800" b="1" dirty="0"/>
              <a:t> </a:t>
            </a:r>
            <a:r>
              <a:rPr lang="en-US" sz="2800" b="1" dirty="0" err="1"/>
              <a:t>Ədalət</a:t>
            </a:r>
            <a:r>
              <a:rPr lang="en-US" sz="2800" b="1" dirty="0"/>
              <a:t> </a:t>
            </a:r>
            <a:br>
              <a:rPr lang="en-US" sz="2800" b="1" dirty="0"/>
            </a:br>
            <a:br>
              <a:rPr lang="en-US" sz="2800" b="1" dirty="0"/>
            </a:br>
            <a:r>
              <a:rPr lang="en-US" sz="2800" b="1" dirty="0"/>
              <a:t>31.05.2026</a:t>
            </a:r>
          </a:p>
        </p:txBody>
      </p:sp>
      <p:pic>
        <p:nvPicPr>
          <p:cNvPr id="6" name="Graphic 5" descr="Shopping basket">
            <a:extLst>
              <a:ext uri="{FF2B5EF4-FFF2-40B4-BE49-F238E27FC236}">
                <a16:creationId xmlns:a16="http://schemas.microsoft.com/office/drawing/2014/main" id="{EE20B11F-880F-ECEA-BB47-25E5B2B139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5458" y="1353312"/>
            <a:ext cx="2176272" cy="2176272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pic>
        <p:nvPicPr>
          <p:cNvPr id="5" name="Picture 4" descr="Arrows pointing up">
            <a:extLst>
              <a:ext uri="{FF2B5EF4-FFF2-40B4-BE49-F238E27FC236}">
                <a16:creationId xmlns:a16="http://schemas.microsoft.com/office/drawing/2014/main" id="{9FD4CC1C-CD1B-3D2E-B440-6893D2EC7B4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4340" y="1622298"/>
            <a:ext cx="2176272" cy="1632204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pic>
        <p:nvPicPr>
          <p:cNvPr id="12" name="Picture 11" descr="Stacks of gold coins">
            <a:extLst>
              <a:ext uri="{FF2B5EF4-FFF2-40B4-BE49-F238E27FC236}">
                <a16:creationId xmlns:a16="http://schemas.microsoft.com/office/drawing/2014/main" id="{34E89C85-8FF8-689C-EF4B-B4470F31400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01488" y="1712069"/>
            <a:ext cx="2176272" cy="145266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  <p:pic>
        <p:nvPicPr>
          <p:cNvPr id="8" name="Picture 7" descr="3D pie chart graphic">
            <a:extLst>
              <a:ext uri="{FF2B5EF4-FFF2-40B4-BE49-F238E27FC236}">
                <a16:creationId xmlns:a16="http://schemas.microsoft.com/office/drawing/2014/main" id="{14D93971-F1D4-3A26-0DD5-30CB4DA5B302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8636" y="1712069"/>
            <a:ext cx="2176272" cy="1452661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3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19180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F2792A-FED2-927A-6CD3-5C5C9B8C4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117" y="925748"/>
            <a:ext cx="9404723" cy="864805"/>
          </a:xfrm>
        </p:spPr>
        <p:txBody>
          <a:bodyPr/>
          <a:lstStyle/>
          <a:p>
            <a:r>
              <a:rPr lang="az-Latn-AZ" sz="5400" b="1" dirty="0"/>
              <a:t>Mündəricat</a:t>
            </a:r>
            <a:endParaRPr lang="en-US" sz="5400" b="1" dirty="0"/>
          </a:p>
        </p:txBody>
      </p:sp>
      <p:sp>
        <p:nvSpPr>
          <p:cNvPr id="5" name="Shape 1">
            <a:hlinkClick r:id="rId2" action="ppaction://hlinksldjump"/>
            <a:extLst>
              <a:ext uri="{FF2B5EF4-FFF2-40B4-BE49-F238E27FC236}">
                <a16:creationId xmlns:a16="http://schemas.microsoft.com/office/drawing/2014/main" id="{25C661A3-7CC8-E407-9857-BCFB245FB290}"/>
              </a:ext>
            </a:extLst>
          </p:cNvPr>
          <p:cNvSpPr/>
          <p:nvPr/>
        </p:nvSpPr>
        <p:spPr>
          <a:xfrm>
            <a:off x="1536638" y="1885868"/>
            <a:ext cx="4175411" cy="533359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3200" dirty="0"/>
          </a:p>
        </p:txBody>
      </p:sp>
      <p:sp>
        <p:nvSpPr>
          <p:cNvPr id="6" name="Shape 2">
            <a:extLst>
              <a:ext uri="{FF2B5EF4-FFF2-40B4-BE49-F238E27FC236}">
                <a16:creationId xmlns:a16="http://schemas.microsoft.com/office/drawing/2014/main" id="{5AF634AE-D048-6E84-5BFA-8CE9C0807232}"/>
              </a:ext>
            </a:extLst>
          </p:cNvPr>
          <p:cNvSpPr/>
          <p:nvPr/>
        </p:nvSpPr>
        <p:spPr>
          <a:xfrm>
            <a:off x="1536639" y="1885868"/>
            <a:ext cx="74230" cy="533359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E50BD8E1-EC35-62A2-260E-BB4772F3A050}"/>
              </a:ext>
            </a:extLst>
          </p:cNvPr>
          <p:cNvSpPr/>
          <p:nvPr/>
        </p:nvSpPr>
        <p:spPr>
          <a:xfrm>
            <a:off x="1652877" y="1885868"/>
            <a:ext cx="510328" cy="533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9E9CA997-92B0-0954-3CC7-95E3CDF804DB}"/>
              </a:ext>
            </a:extLst>
          </p:cNvPr>
          <p:cNvSpPr/>
          <p:nvPr/>
        </p:nvSpPr>
        <p:spPr>
          <a:xfrm>
            <a:off x="2094583" y="1885868"/>
            <a:ext cx="3340328" cy="533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Ümumi Göstəricilər</a:t>
            </a:r>
            <a:endParaRPr lang="en-US" sz="2400" dirty="0"/>
          </a:p>
        </p:txBody>
      </p:sp>
      <p:sp>
        <p:nvSpPr>
          <p:cNvPr id="9" name="Shape 5">
            <a:hlinkClick r:id="rId3" action="ppaction://hlinksldjump"/>
            <a:extLst>
              <a:ext uri="{FF2B5EF4-FFF2-40B4-BE49-F238E27FC236}">
                <a16:creationId xmlns:a16="http://schemas.microsoft.com/office/drawing/2014/main" id="{BA963E21-B89E-3EDC-2EC7-327F09382683}"/>
              </a:ext>
            </a:extLst>
          </p:cNvPr>
          <p:cNvSpPr/>
          <p:nvPr/>
        </p:nvSpPr>
        <p:spPr>
          <a:xfrm>
            <a:off x="1536638" y="2522282"/>
            <a:ext cx="4175411" cy="533359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3200" dirty="0"/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72A88038-7B42-F68E-6845-37BE77683C40}"/>
              </a:ext>
            </a:extLst>
          </p:cNvPr>
          <p:cNvSpPr/>
          <p:nvPr/>
        </p:nvSpPr>
        <p:spPr>
          <a:xfrm>
            <a:off x="1536639" y="2522282"/>
            <a:ext cx="74230" cy="533359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6FF3D2A7-C990-8ABE-9514-A7139CB6FD0D}"/>
              </a:ext>
            </a:extLst>
          </p:cNvPr>
          <p:cNvSpPr/>
          <p:nvPr/>
        </p:nvSpPr>
        <p:spPr>
          <a:xfrm>
            <a:off x="1652877" y="2522282"/>
            <a:ext cx="510328" cy="533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DF9A7941-2A8C-9EB4-6999-0C083DE66B7D}"/>
              </a:ext>
            </a:extLst>
          </p:cNvPr>
          <p:cNvSpPr/>
          <p:nvPr/>
        </p:nvSpPr>
        <p:spPr>
          <a:xfrm>
            <a:off x="2094583" y="2522282"/>
            <a:ext cx="3340328" cy="533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Aylıq Satış Trendi</a:t>
            </a:r>
            <a:endParaRPr lang="en-US" sz="2400" dirty="0"/>
          </a:p>
        </p:txBody>
      </p:sp>
      <p:sp>
        <p:nvSpPr>
          <p:cNvPr id="13" name="Shape 9">
            <a:hlinkClick r:id="rId4" action="ppaction://hlinksldjump"/>
            <a:extLst>
              <a:ext uri="{FF2B5EF4-FFF2-40B4-BE49-F238E27FC236}">
                <a16:creationId xmlns:a16="http://schemas.microsoft.com/office/drawing/2014/main" id="{8C0FB40F-F9B3-C142-79DE-E2688E984161}"/>
              </a:ext>
            </a:extLst>
          </p:cNvPr>
          <p:cNvSpPr/>
          <p:nvPr/>
        </p:nvSpPr>
        <p:spPr>
          <a:xfrm>
            <a:off x="1536638" y="3158696"/>
            <a:ext cx="4175411" cy="533359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14" name="Shape 10">
            <a:extLst>
              <a:ext uri="{FF2B5EF4-FFF2-40B4-BE49-F238E27FC236}">
                <a16:creationId xmlns:a16="http://schemas.microsoft.com/office/drawing/2014/main" id="{0A8933C0-474D-802D-6FEB-529D05ABCAA5}"/>
              </a:ext>
            </a:extLst>
          </p:cNvPr>
          <p:cNvSpPr/>
          <p:nvPr/>
        </p:nvSpPr>
        <p:spPr>
          <a:xfrm>
            <a:off x="1536639" y="3158696"/>
            <a:ext cx="74230" cy="533359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87772A4B-A91E-19CB-2F8E-E0559B463AF8}"/>
              </a:ext>
            </a:extLst>
          </p:cNvPr>
          <p:cNvSpPr/>
          <p:nvPr/>
        </p:nvSpPr>
        <p:spPr>
          <a:xfrm>
            <a:off x="1652877" y="3158696"/>
            <a:ext cx="510328" cy="533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1CD304EB-FC9D-0C88-8BC6-A8A902CE2AB7}"/>
              </a:ext>
            </a:extLst>
          </p:cNvPr>
          <p:cNvSpPr/>
          <p:nvPr/>
        </p:nvSpPr>
        <p:spPr>
          <a:xfrm>
            <a:off x="2094583" y="3158696"/>
            <a:ext cx="3340328" cy="533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Məhsul</a:t>
            </a:r>
            <a:endParaRPr lang="en-US" sz="2400" dirty="0"/>
          </a:p>
        </p:txBody>
      </p:sp>
      <p:sp>
        <p:nvSpPr>
          <p:cNvPr id="17" name="Shape 13">
            <a:hlinkClick r:id="rId5" action="ppaction://hlinksldjump"/>
            <a:extLst>
              <a:ext uri="{FF2B5EF4-FFF2-40B4-BE49-F238E27FC236}">
                <a16:creationId xmlns:a16="http://schemas.microsoft.com/office/drawing/2014/main" id="{54FB0525-DD5A-9B96-44E4-02B7E8B37F33}"/>
              </a:ext>
            </a:extLst>
          </p:cNvPr>
          <p:cNvSpPr/>
          <p:nvPr/>
        </p:nvSpPr>
        <p:spPr>
          <a:xfrm>
            <a:off x="1553710" y="3810100"/>
            <a:ext cx="4175411" cy="533359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F1B7558-4B72-53BC-AC10-8224A3E26F1D}"/>
              </a:ext>
            </a:extLst>
          </p:cNvPr>
          <p:cNvSpPr/>
          <p:nvPr/>
        </p:nvSpPr>
        <p:spPr>
          <a:xfrm>
            <a:off x="1553711" y="3810100"/>
            <a:ext cx="74230" cy="533359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56C52892-B9B8-6FF2-A34C-BD46881FFB6C}"/>
              </a:ext>
            </a:extLst>
          </p:cNvPr>
          <p:cNvSpPr/>
          <p:nvPr/>
        </p:nvSpPr>
        <p:spPr>
          <a:xfrm>
            <a:off x="1669949" y="3810100"/>
            <a:ext cx="510328" cy="533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2400" dirty="0"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E88F6541-8775-9E79-235F-AB972FF35789}"/>
              </a:ext>
            </a:extLst>
          </p:cNvPr>
          <p:cNvSpPr/>
          <p:nvPr/>
        </p:nvSpPr>
        <p:spPr>
          <a:xfrm>
            <a:off x="2111655" y="3810100"/>
            <a:ext cx="3340328" cy="533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5 Müştəri</a:t>
            </a:r>
            <a:endParaRPr lang="en-US" sz="2400" dirty="0"/>
          </a:p>
        </p:txBody>
      </p:sp>
      <p:sp>
        <p:nvSpPr>
          <p:cNvPr id="21" name="Shape 17">
            <a:hlinkClick r:id="rId6" action="ppaction://hlinksldjump"/>
            <a:extLst>
              <a:ext uri="{FF2B5EF4-FFF2-40B4-BE49-F238E27FC236}">
                <a16:creationId xmlns:a16="http://schemas.microsoft.com/office/drawing/2014/main" id="{C22D7B40-658D-56F2-662F-F6A509C25D60}"/>
              </a:ext>
            </a:extLst>
          </p:cNvPr>
          <p:cNvSpPr/>
          <p:nvPr/>
        </p:nvSpPr>
        <p:spPr>
          <a:xfrm>
            <a:off x="1545174" y="4438774"/>
            <a:ext cx="4175411" cy="533359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3EAA11F2-6178-E2D0-6774-E3B830F2DF96}"/>
              </a:ext>
            </a:extLst>
          </p:cNvPr>
          <p:cNvSpPr/>
          <p:nvPr/>
        </p:nvSpPr>
        <p:spPr>
          <a:xfrm>
            <a:off x="1545175" y="4438774"/>
            <a:ext cx="74230" cy="533359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C4471B3E-D00D-266A-7DDC-8F28A1F4CAAE}"/>
              </a:ext>
            </a:extLst>
          </p:cNvPr>
          <p:cNvSpPr/>
          <p:nvPr/>
        </p:nvSpPr>
        <p:spPr>
          <a:xfrm>
            <a:off x="1661413" y="4438774"/>
            <a:ext cx="510328" cy="533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2400" dirty="0"/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89D72C1E-11D0-89A6-8332-9B298101B2AF}"/>
              </a:ext>
            </a:extLst>
          </p:cNvPr>
          <p:cNvSpPr/>
          <p:nvPr/>
        </p:nvSpPr>
        <p:spPr>
          <a:xfrm>
            <a:off x="2103119" y="4438774"/>
            <a:ext cx="3340328" cy="533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Qaytarılma Analizi</a:t>
            </a:r>
            <a:endParaRPr lang="en-US" sz="2400" dirty="0"/>
          </a:p>
        </p:txBody>
      </p:sp>
      <p:sp>
        <p:nvSpPr>
          <p:cNvPr id="25" name="Shape 21">
            <a:hlinkClick r:id="rId7" action="ppaction://hlinksldjump"/>
            <a:extLst>
              <a:ext uri="{FF2B5EF4-FFF2-40B4-BE49-F238E27FC236}">
                <a16:creationId xmlns:a16="http://schemas.microsoft.com/office/drawing/2014/main" id="{291EC6A7-9C0B-1782-1190-8FBDC97A879E}"/>
              </a:ext>
            </a:extLst>
          </p:cNvPr>
          <p:cNvSpPr/>
          <p:nvPr/>
        </p:nvSpPr>
        <p:spPr>
          <a:xfrm>
            <a:off x="5863323" y="1885868"/>
            <a:ext cx="4175411" cy="533359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26" name="Shape 22">
            <a:extLst>
              <a:ext uri="{FF2B5EF4-FFF2-40B4-BE49-F238E27FC236}">
                <a16:creationId xmlns:a16="http://schemas.microsoft.com/office/drawing/2014/main" id="{47CD08E5-92CA-8F8A-69BA-F0E50BAC40EE}"/>
              </a:ext>
            </a:extLst>
          </p:cNvPr>
          <p:cNvSpPr/>
          <p:nvPr/>
        </p:nvSpPr>
        <p:spPr>
          <a:xfrm>
            <a:off x="5863324" y="1885868"/>
            <a:ext cx="74230" cy="533359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DAE24C6B-CE3F-833C-3906-911B829FAF8C}"/>
              </a:ext>
            </a:extLst>
          </p:cNvPr>
          <p:cNvSpPr/>
          <p:nvPr/>
        </p:nvSpPr>
        <p:spPr>
          <a:xfrm>
            <a:off x="5979562" y="1885868"/>
            <a:ext cx="510328" cy="533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2400" dirty="0"/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98C7B6BA-A4CC-A1A8-2733-2CDC86CADD1A}"/>
              </a:ext>
            </a:extLst>
          </p:cNvPr>
          <p:cNvSpPr/>
          <p:nvPr/>
        </p:nvSpPr>
        <p:spPr>
          <a:xfrm>
            <a:off x="6421268" y="1885868"/>
            <a:ext cx="3340328" cy="533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Ödəniş Üsulları</a:t>
            </a:r>
            <a:endParaRPr lang="en-US" sz="2400" dirty="0"/>
          </a:p>
        </p:txBody>
      </p:sp>
      <p:sp>
        <p:nvSpPr>
          <p:cNvPr id="33" name="Shape 29">
            <a:hlinkClick r:id="rId8" action="ppaction://hlinksldjump"/>
            <a:extLst>
              <a:ext uri="{FF2B5EF4-FFF2-40B4-BE49-F238E27FC236}">
                <a16:creationId xmlns:a16="http://schemas.microsoft.com/office/drawing/2014/main" id="{971DE0B5-FDE7-B684-E830-58972AD786F2}"/>
              </a:ext>
            </a:extLst>
          </p:cNvPr>
          <p:cNvSpPr/>
          <p:nvPr/>
        </p:nvSpPr>
        <p:spPr>
          <a:xfrm>
            <a:off x="5871859" y="4438774"/>
            <a:ext cx="4175411" cy="533359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34" name="Shape 30">
            <a:extLst>
              <a:ext uri="{FF2B5EF4-FFF2-40B4-BE49-F238E27FC236}">
                <a16:creationId xmlns:a16="http://schemas.microsoft.com/office/drawing/2014/main" id="{0AE2B191-1454-070B-AB26-8C4716331C9B}"/>
              </a:ext>
            </a:extLst>
          </p:cNvPr>
          <p:cNvSpPr/>
          <p:nvPr/>
        </p:nvSpPr>
        <p:spPr>
          <a:xfrm>
            <a:off x="5871860" y="4438774"/>
            <a:ext cx="74230" cy="533359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19E2A785-0D4C-C416-93AA-1281AE7C9121}"/>
              </a:ext>
            </a:extLst>
          </p:cNvPr>
          <p:cNvSpPr/>
          <p:nvPr/>
        </p:nvSpPr>
        <p:spPr>
          <a:xfrm>
            <a:off x="5988097" y="4438774"/>
            <a:ext cx="671162" cy="533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z-Latn-AZ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10</a:t>
            </a:r>
            <a:endParaRPr lang="en-US" sz="2400" dirty="0"/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08ADE32B-875C-5F99-FD41-7740E1F62D93}"/>
              </a:ext>
            </a:extLst>
          </p:cNvPr>
          <p:cNvSpPr/>
          <p:nvPr/>
        </p:nvSpPr>
        <p:spPr>
          <a:xfrm>
            <a:off x="6429804" y="4438774"/>
            <a:ext cx="3340328" cy="533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Tövsiyələr</a:t>
            </a:r>
            <a:endParaRPr lang="en-US" sz="2400" dirty="0"/>
          </a:p>
        </p:txBody>
      </p:sp>
      <p:sp>
        <p:nvSpPr>
          <p:cNvPr id="3" name="Shape 29">
            <a:hlinkClick r:id="rId9" action="ppaction://hlinksldjump"/>
            <a:extLst>
              <a:ext uri="{FF2B5EF4-FFF2-40B4-BE49-F238E27FC236}">
                <a16:creationId xmlns:a16="http://schemas.microsoft.com/office/drawing/2014/main" id="{EEA68299-8921-FA62-D126-9F7EEF0546B2}"/>
              </a:ext>
            </a:extLst>
          </p:cNvPr>
          <p:cNvSpPr/>
          <p:nvPr/>
        </p:nvSpPr>
        <p:spPr>
          <a:xfrm>
            <a:off x="5863323" y="2514542"/>
            <a:ext cx="4175411" cy="533359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4" name="Shape 30">
            <a:extLst>
              <a:ext uri="{FF2B5EF4-FFF2-40B4-BE49-F238E27FC236}">
                <a16:creationId xmlns:a16="http://schemas.microsoft.com/office/drawing/2014/main" id="{8D4F7DAC-D174-D47F-A87F-90C4246C2722}"/>
              </a:ext>
            </a:extLst>
          </p:cNvPr>
          <p:cNvSpPr/>
          <p:nvPr/>
        </p:nvSpPr>
        <p:spPr>
          <a:xfrm>
            <a:off x="5863324" y="2514542"/>
            <a:ext cx="74230" cy="533359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29" name="Text 31">
            <a:extLst>
              <a:ext uri="{FF2B5EF4-FFF2-40B4-BE49-F238E27FC236}">
                <a16:creationId xmlns:a16="http://schemas.microsoft.com/office/drawing/2014/main" id="{F202BF08-8165-253D-9A18-599CE3F5D839}"/>
              </a:ext>
            </a:extLst>
          </p:cNvPr>
          <p:cNvSpPr/>
          <p:nvPr/>
        </p:nvSpPr>
        <p:spPr>
          <a:xfrm>
            <a:off x="5979562" y="2514542"/>
            <a:ext cx="510328" cy="533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z-Latn-AZ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2400" dirty="0"/>
          </a:p>
        </p:txBody>
      </p:sp>
      <p:sp>
        <p:nvSpPr>
          <p:cNvPr id="30" name="Text 32">
            <a:extLst>
              <a:ext uri="{FF2B5EF4-FFF2-40B4-BE49-F238E27FC236}">
                <a16:creationId xmlns:a16="http://schemas.microsoft.com/office/drawing/2014/main" id="{9A1AF135-EFDB-0688-7BFC-2089598523B1}"/>
              </a:ext>
            </a:extLst>
          </p:cNvPr>
          <p:cNvSpPr/>
          <p:nvPr/>
        </p:nvSpPr>
        <p:spPr>
          <a:xfrm>
            <a:off x="6421268" y="2514542"/>
            <a:ext cx="3340328" cy="533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az-Latn-AZ" sz="2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Səbəb analizi</a:t>
            </a:r>
          </a:p>
        </p:txBody>
      </p:sp>
      <p:sp>
        <p:nvSpPr>
          <p:cNvPr id="31" name="Shape 29">
            <a:hlinkClick r:id="rId10" action="ppaction://hlinksldjump"/>
            <a:extLst>
              <a:ext uri="{FF2B5EF4-FFF2-40B4-BE49-F238E27FC236}">
                <a16:creationId xmlns:a16="http://schemas.microsoft.com/office/drawing/2014/main" id="{95AAB68B-E371-AAFB-D8DE-1FFDBC995311}"/>
              </a:ext>
            </a:extLst>
          </p:cNvPr>
          <p:cNvSpPr/>
          <p:nvPr/>
        </p:nvSpPr>
        <p:spPr>
          <a:xfrm>
            <a:off x="5871859" y="3158696"/>
            <a:ext cx="4175411" cy="533359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32" name="Shape 30">
            <a:extLst>
              <a:ext uri="{FF2B5EF4-FFF2-40B4-BE49-F238E27FC236}">
                <a16:creationId xmlns:a16="http://schemas.microsoft.com/office/drawing/2014/main" id="{30C3BA97-0322-14DC-1DC2-7DC9302F9A89}"/>
              </a:ext>
            </a:extLst>
          </p:cNvPr>
          <p:cNvSpPr/>
          <p:nvPr/>
        </p:nvSpPr>
        <p:spPr>
          <a:xfrm>
            <a:off x="5871860" y="3158696"/>
            <a:ext cx="74230" cy="533359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1595180E-9263-9FF5-1F42-90767FD125C8}"/>
              </a:ext>
            </a:extLst>
          </p:cNvPr>
          <p:cNvSpPr/>
          <p:nvPr/>
        </p:nvSpPr>
        <p:spPr>
          <a:xfrm>
            <a:off x="5988098" y="3158696"/>
            <a:ext cx="510328" cy="533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z-Latn-AZ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8</a:t>
            </a:r>
            <a:endParaRPr lang="en-US" sz="2400" dirty="0"/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963B1DDC-4BAF-83F4-E3E8-8D11940E8DBD}"/>
              </a:ext>
            </a:extLst>
          </p:cNvPr>
          <p:cNvSpPr/>
          <p:nvPr/>
        </p:nvSpPr>
        <p:spPr>
          <a:xfrm>
            <a:off x="6429803" y="3158696"/>
            <a:ext cx="3617467" cy="533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az-Latn-AZ" sz="2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 üzre en çox qaytarılan</a:t>
            </a:r>
          </a:p>
        </p:txBody>
      </p:sp>
      <p:sp>
        <p:nvSpPr>
          <p:cNvPr id="39" name="Shape 29">
            <a:hlinkClick r:id="rId11" action="ppaction://hlinksldjump"/>
            <a:extLst>
              <a:ext uri="{FF2B5EF4-FFF2-40B4-BE49-F238E27FC236}">
                <a16:creationId xmlns:a16="http://schemas.microsoft.com/office/drawing/2014/main" id="{C7F8E1B1-AD18-21A4-CF4C-66C83DD809FC}"/>
              </a:ext>
            </a:extLst>
          </p:cNvPr>
          <p:cNvSpPr/>
          <p:nvPr/>
        </p:nvSpPr>
        <p:spPr>
          <a:xfrm>
            <a:off x="5871859" y="3810100"/>
            <a:ext cx="4175411" cy="533359"/>
          </a:xfrm>
          <a:prstGeom prst="rect">
            <a:avLst/>
          </a:prstGeom>
          <a:solidFill>
            <a:srgbClr val="FFFFFF"/>
          </a:solidFill>
          <a:ln/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 sz="3200"/>
          </a:p>
        </p:txBody>
      </p:sp>
      <p:sp>
        <p:nvSpPr>
          <p:cNvPr id="40" name="Shape 30">
            <a:extLst>
              <a:ext uri="{FF2B5EF4-FFF2-40B4-BE49-F238E27FC236}">
                <a16:creationId xmlns:a16="http://schemas.microsoft.com/office/drawing/2014/main" id="{3D6E8301-5CBF-0D75-752E-FA350F5FFA4E}"/>
              </a:ext>
            </a:extLst>
          </p:cNvPr>
          <p:cNvSpPr/>
          <p:nvPr/>
        </p:nvSpPr>
        <p:spPr>
          <a:xfrm>
            <a:off x="5871860" y="3810100"/>
            <a:ext cx="74230" cy="533359"/>
          </a:xfrm>
          <a:prstGeom prst="rect">
            <a:avLst/>
          </a:prstGeom>
          <a:solidFill>
            <a:srgbClr val="1E2761"/>
          </a:solidFill>
          <a:ln/>
        </p:spPr>
        <p:txBody>
          <a:bodyPr/>
          <a:lstStyle/>
          <a:p>
            <a:endParaRPr lang="en-US" sz="3200"/>
          </a:p>
        </p:txBody>
      </p:sp>
      <p:sp>
        <p:nvSpPr>
          <p:cNvPr id="41" name="Text 31">
            <a:extLst>
              <a:ext uri="{FF2B5EF4-FFF2-40B4-BE49-F238E27FC236}">
                <a16:creationId xmlns:a16="http://schemas.microsoft.com/office/drawing/2014/main" id="{814C791E-12F7-76F8-98D8-F573DCEF31B5}"/>
              </a:ext>
            </a:extLst>
          </p:cNvPr>
          <p:cNvSpPr/>
          <p:nvPr/>
        </p:nvSpPr>
        <p:spPr>
          <a:xfrm>
            <a:off x="5988098" y="3810100"/>
            <a:ext cx="510328" cy="533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z-Latn-AZ" sz="2400" b="1" dirty="0">
                <a:solidFill>
                  <a:srgbClr val="1E27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</a:t>
            </a:r>
            <a:endParaRPr lang="en-US" sz="2400" dirty="0"/>
          </a:p>
        </p:txBody>
      </p:sp>
      <p:sp>
        <p:nvSpPr>
          <p:cNvPr id="42" name="Text 32">
            <a:extLst>
              <a:ext uri="{FF2B5EF4-FFF2-40B4-BE49-F238E27FC236}">
                <a16:creationId xmlns:a16="http://schemas.microsoft.com/office/drawing/2014/main" id="{01A4E37C-339A-9A76-0140-D337F685B6BF}"/>
              </a:ext>
            </a:extLst>
          </p:cNvPr>
          <p:cNvSpPr/>
          <p:nvPr/>
        </p:nvSpPr>
        <p:spPr>
          <a:xfrm>
            <a:off x="6429804" y="3810100"/>
            <a:ext cx="3340328" cy="533359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az-Latn-AZ" sz="2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Yaş analizi</a:t>
            </a:r>
          </a:p>
        </p:txBody>
      </p:sp>
    </p:spTree>
    <p:extLst>
      <p:ext uri="{BB962C8B-B14F-4D97-AF65-F5344CB8AC3E}">
        <p14:creationId xmlns:p14="http://schemas.microsoft.com/office/powerpoint/2010/main" val="1708343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541FF9-5414-0679-D7B3-0F82B2FAB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845140"/>
          </a:xfrm>
        </p:spPr>
        <p:txBody>
          <a:bodyPr/>
          <a:lstStyle/>
          <a:p>
            <a:r>
              <a:rPr lang="az-Latn-AZ" b="1" dirty="0"/>
              <a:t>Ümumi göstəricilər</a:t>
            </a:r>
            <a:endParaRPr lang="en-US" b="1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B59BA996-6CE0-2B7F-54E9-672B33CA6829}"/>
              </a:ext>
            </a:extLst>
          </p:cNvPr>
          <p:cNvGrpSpPr/>
          <p:nvPr/>
        </p:nvGrpSpPr>
        <p:grpSpPr>
          <a:xfrm>
            <a:off x="1653654" y="1384181"/>
            <a:ext cx="2513351" cy="2132206"/>
            <a:chOff x="914400" y="3814916"/>
            <a:chExt cx="2399071" cy="2428568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036D29B-977E-BBB3-3E47-4237B72DA350}"/>
                </a:ext>
              </a:extLst>
            </p:cNvPr>
            <p:cNvSpPr/>
            <p:nvPr/>
          </p:nvSpPr>
          <p:spPr>
            <a:xfrm>
              <a:off x="914400" y="3814916"/>
              <a:ext cx="2399071" cy="2428568"/>
            </a:xfrm>
            <a:prstGeom prst="round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1E276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$2,367,915</a:t>
              </a:r>
              <a:endParaRPr lang="en-US" sz="2800" dirty="0"/>
            </a:p>
          </p:txBody>
        </p:sp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96C6B1ED-99BE-693E-4862-1764DA9503DD}"/>
                </a:ext>
              </a:extLst>
            </p:cNvPr>
            <p:cNvSpPr/>
            <p:nvPr/>
          </p:nvSpPr>
          <p:spPr>
            <a:xfrm>
              <a:off x="1128250" y="3913237"/>
              <a:ext cx="1968911" cy="521296"/>
            </a:xfrm>
            <a:prstGeom prst="roundRect">
              <a:avLst/>
            </a:prstGeom>
            <a:solidFill>
              <a:srgbClr val="0D6E6E"/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err="1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Ümumi</a:t>
              </a: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000" dirty="0" err="1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Satış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0" name="Group 9">
            <a:extLst>
              <a:ext uri="{FF2B5EF4-FFF2-40B4-BE49-F238E27FC236}">
                <a16:creationId xmlns:a16="http://schemas.microsoft.com/office/drawing/2014/main" id="{BDBEAED7-6441-35BB-B021-60C2915719F7}"/>
              </a:ext>
            </a:extLst>
          </p:cNvPr>
          <p:cNvGrpSpPr/>
          <p:nvPr/>
        </p:nvGrpSpPr>
        <p:grpSpPr>
          <a:xfrm>
            <a:off x="4555485" y="1384181"/>
            <a:ext cx="2513351" cy="2132206"/>
            <a:chOff x="914400" y="3814916"/>
            <a:chExt cx="2399071" cy="2428568"/>
          </a:xfrm>
        </p:grpSpPr>
        <p:sp>
          <p:nvSpPr>
            <p:cNvPr id="11" name="Rectangle: Rounded Corners 10">
              <a:extLst>
                <a:ext uri="{FF2B5EF4-FFF2-40B4-BE49-F238E27FC236}">
                  <a16:creationId xmlns:a16="http://schemas.microsoft.com/office/drawing/2014/main" id="{1F177E10-97F3-C3EE-5072-540CE9B17083}"/>
                </a:ext>
              </a:extLst>
            </p:cNvPr>
            <p:cNvSpPr/>
            <p:nvPr/>
          </p:nvSpPr>
          <p:spPr>
            <a:xfrm>
              <a:off x="914400" y="3814916"/>
              <a:ext cx="2399071" cy="2428568"/>
            </a:xfrm>
            <a:prstGeom prst="round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1E2761"/>
                  </a:solidFill>
                  <a:latin typeface="Trebuchet MS" pitchFamily="34" charset="0"/>
                </a:rPr>
                <a:t>1,000</a:t>
              </a:r>
            </a:p>
          </p:txBody>
        </p:sp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52A9C51-52C8-04BE-E14D-F869EEFAD5EB}"/>
                </a:ext>
              </a:extLst>
            </p:cNvPr>
            <p:cNvSpPr/>
            <p:nvPr/>
          </p:nvSpPr>
          <p:spPr>
            <a:xfrm>
              <a:off x="1128250" y="3913238"/>
              <a:ext cx="1968911" cy="521295"/>
            </a:xfrm>
            <a:prstGeom prst="roundRect">
              <a:avLst/>
            </a:prstGeom>
            <a:solidFill>
              <a:srgbClr val="0D6E6E"/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err="1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Ümumi</a:t>
              </a: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2000" dirty="0" err="1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Sifariş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6891861-7667-2C30-8C9E-62BDC6A38B85}"/>
              </a:ext>
            </a:extLst>
          </p:cNvPr>
          <p:cNvGrpSpPr/>
          <p:nvPr/>
        </p:nvGrpSpPr>
        <p:grpSpPr>
          <a:xfrm>
            <a:off x="4555485" y="3684511"/>
            <a:ext cx="2513351" cy="2132205"/>
            <a:chOff x="914400" y="3814916"/>
            <a:chExt cx="2399071" cy="2428568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E778A5C2-4641-396D-29C7-09AF4358C630}"/>
                </a:ext>
              </a:extLst>
            </p:cNvPr>
            <p:cNvSpPr/>
            <p:nvPr/>
          </p:nvSpPr>
          <p:spPr>
            <a:xfrm>
              <a:off x="914400" y="3814916"/>
              <a:ext cx="2399071" cy="2428568"/>
            </a:xfrm>
            <a:prstGeom prst="round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1E2761"/>
                  </a:solidFill>
                  <a:latin typeface="Trebuchet MS" pitchFamily="34" charset="0"/>
                </a:rPr>
                <a:t>$197,326</a:t>
              </a:r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200BB24-0C33-6174-9B8F-3F5B155D5DC6}"/>
                </a:ext>
              </a:extLst>
            </p:cNvPr>
            <p:cNvSpPr/>
            <p:nvPr/>
          </p:nvSpPr>
          <p:spPr>
            <a:xfrm>
              <a:off x="1128250" y="3913237"/>
              <a:ext cx="1968911" cy="521296"/>
            </a:xfrm>
            <a:prstGeom prst="roundRect">
              <a:avLst/>
            </a:prstGeom>
            <a:solidFill>
              <a:srgbClr val="0D6E6E"/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err="1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Aylıq</a:t>
              </a: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Orta </a:t>
              </a:r>
              <a:r>
                <a:rPr lang="en-US" sz="2000" dirty="0" err="1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Satış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3F2D27F-2754-8845-EFBC-A1EA647B8997}"/>
              </a:ext>
            </a:extLst>
          </p:cNvPr>
          <p:cNvGrpSpPr/>
          <p:nvPr/>
        </p:nvGrpSpPr>
        <p:grpSpPr>
          <a:xfrm>
            <a:off x="7457316" y="1384181"/>
            <a:ext cx="2513351" cy="2132204"/>
            <a:chOff x="914400" y="3814916"/>
            <a:chExt cx="2399071" cy="2428568"/>
          </a:xfrm>
        </p:grpSpPr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F6AE0B9A-D084-0698-0138-A0F7C5381493}"/>
                </a:ext>
              </a:extLst>
            </p:cNvPr>
            <p:cNvSpPr/>
            <p:nvPr/>
          </p:nvSpPr>
          <p:spPr>
            <a:xfrm>
              <a:off x="914400" y="3814916"/>
              <a:ext cx="2399071" cy="2428568"/>
            </a:xfrm>
            <a:prstGeom prst="round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B91C1C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20.5%</a:t>
              </a:r>
              <a:endParaRPr lang="en-US" sz="2800" dirty="0"/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F56BEA95-C264-1468-7211-643DE867D9A0}"/>
                </a:ext>
              </a:extLst>
            </p:cNvPr>
            <p:cNvSpPr/>
            <p:nvPr/>
          </p:nvSpPr>
          <p:spPr>
            <a:xfrm>
              <a:off x="1128250" y="3913238"/>
              <a:ext cx="1968911" cy="521297"/>
            </a:xfrm>
            <a:prstGeom prst="roundRect">
              <a:avLst/>
            </a:prstGeom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000" dirty="0" err="1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Qaytarılma</a:t>
              </a:r>
              <a:r>
                <a:rPr lang="en-US" sz="2000" dirty="0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Faizi</a:t>
              </a:r>
              <a:endParaRPr lang="en-US" sz="2000" dirty="0">
                <a:solidFill>
                  <a:schemeClr val="tx1"/>
                </a:solidFill>
              </a:endParaRPr>
            </a:p>
          </p:txBody>
        </p:sp>
      </p:grp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16AC5E3E-42F0-DEF0-5DB3-9325C41F1E76}"/>
              </a:ext>
            </a:extLst>
          </p:cNvPr>
          <p:cNvSpPr/>
          <p:nvPr/>
        </p:nvSpPr>
        <p:spPr>
          <a:xfrm>
            <a:off x="1653654" y="3684511"/>
            <a:ext cx="2513351" cy="2132205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1E2761"/>
                </a:solidFill>
                <a:latin typeface="Trebuchet MS" pitchFamily="34" charset="0"/>
              </a:rPr>
              <a:t>$2,368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0D64E653-FFA9-824A-C1AB-70530C188C83}"/>
              </a:ext>
            </a:extLst>
          </p:cNvPr>
          <p:cNvSpPr/>
          <p:nvPr/>
        </p:nvSpPr>
        <p:spPr>
          <a:xfrm>
            <a:off x="2026636" y="3772063"/>
            <a:ext cx="1795629" cy="634102"/>
          </a:xfrm>
          <a:prstGeom prst="roundRect">
            <a:avLst/>
          </a:prstGeom>
          <a:solidFill>
            <a:srgbClr val="0D6E6E"/>
          </a:solidFill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Sifariş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Başına</a:t>
            </a:r>
            <a:r>
              <a: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Orta </a:t>
            </a:r>
            <a:r>
              <a:rPr lang="en-US" dirty="0" err="1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Gəlir</a:t>
            </a:r>
            <a:endParaRPr lang="en-US" dirty="0">
              <a:solidFill>
                <a:schemeClr val="tx1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4C2A9585-E1EE-AD31-96D1-8002C4361AE9}"/>
              </a:ext>
            </a:extLst>
          </p:cNvPr>
          <p:cNvGrpSpPr/>
          <p:nvPr/>
        </p:nvGrpSpPr>
        <p:grpSpPr>
          <a:xfrm>
            <a:off x="7457316" y="3684511"/>
            <a:ext cx="2513351" cy="2132205"/>
            <a:chOff x="4762699" y="3393524"/>
            <a:chExt cx="2399071" cy="2132205"/>
          </a:xfrm>
        </p:grpSpPr>
        <p:sp>
          <p:nvSpPr>
            <p:cNvPr id="24" name="Rectangle: Rounded Corners 23">
              <a:extLst>
                <a:ext uri="{FF2B5EF4-FFF2-40B4-BE49-F238E27FC236}">
                  <a16:creationId xmlns:a16="http://schemas.microsoft.com/office/drawing/2014/main" id="{B21BDE9A-066B-7DB6-0228-80B5EE5ADD2C}"/>
                </a:ext>
              </a:extLst>
            </p:cNvPr>
            <p:cNvSpPr/>
            <p:nvPr/>
          </p:nvSpPr>
          <p:spPr>
            <a:xfrm>
              <a:off x="4762699" y="3393524"/>
              <a:ext cx="2399071" cy="2132205"/>
            </a:xfrm>
            <a:prstGeom prst="round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2800" b="1" dirty="0">
                  <a:solidFill>
                    <a:srgbClr val="1E2761"/>
                  </a:solidFill>
                  <a:latin typeface="Trebuchet MS" pitchFamily="34" charset="0"/>
                </a:rPr>
                <a:t>11.6%</a:t>
              </a: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EEAF9ADC-2D3F-9131-6E1D-03D848C91A64}"/>
                </a:ext>
              </a:extLst>
            </p:cNvPr>
            <p:cNvSpPr/>
            <p:nvPr/>
          </p:nvSpPr>
          <p:spPr>
            <a:xfrm>
              <a:off x="4952989" y="3487607"/>
              <a:ext cx="1968911" cy="563724"/>
            </a:xfrm>
            <a:prstGeom prst="roundRect">
              <a:avLst/>
            </a:prstGeom>
            <a:solidFill>
              <a:srgbClr val="0D6E6E"/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 err="1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Ən</a:t>
              </a:r>
              <a:r>
                <a:rPr lang="en-US" dirty="0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Yüksək</a:t>
              </a:r>
              <a:r>
                <a:rPr lang="en-US" dirty="0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Satış</a:t>
              </a:r>
              <a:r>
                <a:rPr lang="en-US" dirty="0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Ayı</a:t>
              </a:r>
              <a:r>
                <a:rPr lang="en-US" dirty="0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dirty="0" err="1">
                  <a:solidFill>
                    <a:schemeClr val="tx1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Payı</a:t>
              </a:r>
              <a:endParaRPr lang="en-US" dirty="0">
                <a:solidFill>
                  <a:schemeClr val="tx1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</p:grpSp>
      <p:sp>
        <p:nvSpPr>
          <p:cNvPr id="31" name="Arrow: Left 30">
            <a:hlinkClick r:id="rId2" action="ppaction://hlinksldjump"/>
            <a:extLst>
              <a:ext uri="{FF2B5EF4-FFF2-40B4-BE49-F238E27FC236}">
                <a16:creationId xmlns:a16="http://schemas.microsoft.com/office/drawing/2014/main" id="{727C9FD9-80E0-FD82-631E-C0AC16F2CA7E}"/>
              </a:ext>
            </a:extLst>
          </p:cNvPr>
          <p:cNvSpPr/>
          <p:nvPr/>
        </p:nvSpPr>
        <p:spPr>
          <a:xfrm>
            <a:off x="7656670" y="0"/>
            <a:ext cx="2113936" cy="93406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b="1" dirty="0"/>
              <a:t>MÜNDƏRİCAT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19009638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1FDFA96-D4C3-27A2-C28C-A84576082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E92A8BB-07B9-40DB-984F-2CB1A2535B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5"/>
            <a:ext cx="12191695" cy="473074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CDDB745-6C26-4B79-9EF2-08E3E4AB90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3" name="Freeform 16">
            <a:extLst>
              <a:ext uri="{FF2B5EF4-FFF2-40B4-BE49-F238E27FC236}">
                <a16:creationId xmlns:a16="http://schemas.microsoft.com/office/drawing/2014/main" id="{80B3FE6C-0A59-4114-88CB-3C3172D6AF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2835162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DDA3A238-516A-4076-B3C2-230D91350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3136999"/>
            <a:ext cx="12191696" cy="3721001"/>
          </a:xfrm>
          <a:custGeom>
            <a:avLst/>
            <a:gdLst>
              <a:gd name="connsiteX0" fmla="*/ 1 w 12191696"/>
              <a:gd name="connsiteY0" fmla="*/ 0 h 3721001"/>
              <a:gd name="connsiteX1" fmla="*/ 71932 w 12191696"/>
              <a:gd name="connsiteY1" fmla="*/ 12261 h 3721001"/>
              <a:gd name="connsiteX2" fmla="*/ 282849 w 12191696"/>
              <a:gd name="connsiteY2" fmla="*/ 48342 h 3721001"/>
              <a:gd name="connsiteX3" fmla="*/ 436464 w 12191696"/>
              <a:gd name="connsiteY3" fmla="*/ 73565 h 3721001"/>
              <a:gd name="connsiteX4" fmla="*/ 619339 w 12191696"/>
              <a:gd name="connsiteY4" fmla="*/ 100188 h 3721001"/>
              <a:gd name="connsiteX5" fmla="*/ 836351 w 12191696"/>
              <a:gd name="connsiteY5" fmla="*/ 132066 h 3721001"/>
              <a:gd name="connsiteX6" fmla="*/ 1076528 w 12191696"/>
              <a:gd name="connsiteY6" fmla="*/ 165696 h 3721001"/>
              <a:gd name="connsiteX7" fmla="*/ 1347183 w 12191696"/>
              <a:gd name="connsiteY7" fmla="*/ 201077 h 3721001"/>
              <a:gd name="connsiteX8" fmla="*/ 1642223 w 12191696"/>
              <a:gd name="connsiteY8" fmla="*/ 238560 h 3721001"/>
              <a:gd name="connsiteX9" fmla="*/ 1962864 w 12191696"/>
              <a:gd name="connsiteY9" fmla="*/ 276043 h 3721001"/>
              <a:gd name="connsiteX10" fmla="*/ 2304232 w 12191696"/>
              <a:gd name="connsiteY10" fmla="*/ 314226 h 3721001"/>
              <a:gd name="connsiteX11" fmla="*/ 2672421 w 12191696"/>
              <a:gd name="connsiteY11" fmla="*/ 349608 h 3721001"/>
              <a:gd name="connsiteX12" fmla="*/ 3057678 w 12191696"/>
              <a:gd name="connsiteY12" fmla="*/ 383588 h 3721001"/>
              <a:gd name="connsiteX13" fmla="*/ 3464881 w 12191696"/>
              <a:gd name="connsiteY13" fmla="*/ 414415 h 3721001"/>
              <a:gd name="connsiteX14" fmla="*/ 3889152 w 12191696"/>
              <a:gd name="connsiteY14" fmla="*/ 443841 h 3721001"/>
              <a:gd name="connsiteX15" fmla="*/ 4331710 w 12191696"/>
              <a:gd name="connsiteY15" fmla="*/ 471515 h 3721001"/>
              <a:gd name="connsiteX16" fmla="*/ 4558476 w 12191696"/>
              <a:gd name="connsiteY16" fmla="*/ 481324 h 3721001"/>
              <a:gd name="connsiteX17" fmla="*/ 4790118 w 12191696"/>
              <a:gd name="connsiteY17" fmla="*/ 492183 h 3721001"/>
              <a:gd name="connsiteX18" fmla="*/ 5025418 w 12191696"/>
              <a:gd name="connsiteY18" fmla="*/ 502342 h 3721001"/>
              <a:gd name="connsiteX19" fmla="*/ 5261937 w 12191696"/>
              <a:gd name="connsiteY19" fmla="*/ 508998 h 3721001"/>
              <a:gd name="connsiteX20" fmla="*/ 5503333 w 12191696"/>
              <a:gd name="connsiteY20" fmla="*/ 514953 h 3721001"/>
              <a:gd name="connsiteX21" fmla="*/ 5747166 w 12191696"/>
              <a:gd name="connsiteY21" fmla="*/ 521259 h 3721001"/>
              <a:gd name="connsiteX22" fmla="*/ 5995877 w 12191696"/>
              <a:gd name="connsiteY22" fmla="*/ 525462 h 3721001"/>
              <a:gd name="connsiteX23" fmla="*/ 6247026 w 12191696"/>
              <a:gd name="connsiteY23" fmla="*/ 525462 h 3721001"/>
              <a:gd name="connsiteX24" fmla="*/ 6500613 w 12191696"/>
              <a:gd name="connsiteY24" fmla="*/ 527564 h 3721001"/>
              <a:gd name="connsiteX25" fmla="*/ 6756639 w 12191696"/>
              <a:gd name="connsiteY25" fmla="*/ 525462 h 3721001"/>
              <a:gd name="connsiteX26" fmla="*/ 7016322 w 12191696"/>
              <a:gd name="connsiteY26" fmla="*/ 521259 h 3721001"/>
              <a:gd name="connsiteX27" fmla="*/ 7276005 w 12191696"/>
              <a:gd name="connsiteY27" fmla="*/ 517405 h 3721001"/>
              <a:gd name="connsiteX28" fmla="*/ 7539345 w 12191696"/>
              <a:gd name="connsiteY28" fmla="*/ 508998 h 3721001"/>
              <a:gd name="connsiteX29" fmla="*/ 7805124 w 12191696"/>
              <a:gd name="connsiteY29" fmla="*/ 500240 h 3721001"/>
              <a:gd name="connsiteX30" fmla="*/ 8070903 w 12191696"/>
              <a:gd name="connsiteY30" fmla="*/ 490081 h 3721001"/>
              <a:gd name="connsiteX31" fmla="*/ 8339121 w 12191696"/>
              <a:gd name="connsiteY31" fmla="*/ 475719 h 3721001"/>
              <a:gd name="connsiteX32" fmla="*/ 8609776 w 12191696"/>
              <a:gd name="connsiteY32" fmla="*/ 458554 h 3721001"/>
              <a:gd name="connsiteX33" fmla="*/ 8881651 w 12191696"/>
              <a:gd name="connsiteY33" fmla="*/ 442089 h 3721001"/>
              <a:gd name="connsiteX34" fmla="*/ 9153526 w 12191696"/>
              <a:gd name="connsiteY34" fmla="*/ 421071 h 3721001"/>
              <a:gd name="connsiteX35" fmla="*/ 9429058 w 12191696"/>
              <a:gd name="connsiteY35" fmla="*/ 395848 h 3721001"/>
              <a:gd name="connsiteX36" fmla="*/ 9700933 w 12191696"/>
              <a:gd name="connsiteY36" fmla="*/ 370626 h 3721001"/>
              <a:gd name="connsiteX37" fmla="*/ 9977684 w 12191696"/>
              <a:gd name="connsiteY37" fmla="*/ 341551 h 3721001"/>
              <a:gd name="connsiteX38" fmla="*/ 10255655 w 12191696"/>
              <a:gd name="connsiteY38" fmla="*/ 309672 h 3721001"/>
              <a:gd name="connsiteX39" fmla="*/ 10529968 w 12191696"/>
              <a:gd name="connsiteY39" fmla="*/ 276043 h 3721001"/>
              <a:gd name="connsiteX40" fmla="*/ 10807939 w 12191696"/>
              <a:gd name="connsiteY40" fmla="*/ 236808 h 3721001"/>
              <a:gd name="connsiteX41" fmla="*/ 11084690 w 12191696"/>
              <a:gd name="connsiteY41" fmla="*/ 194771 h 3721001"/>
              <a:gd name="connsiteX42" fmla="*/ 11362661 w 12191696"/>
              <a:gd name="connsiteY42" fmla="*/ 153085 h 3721001"/>
              <a:gd name="connsiteX43" fmla="*/ 11639412 w 12191696"/>
              <a:gd name="connsiteY43" fmla="*/ 104392 h 3721001"/>
              <a:gd name="connsiteX44" fmla="*/ 11914945 w 12191696"/>
              <a:gd name="connsiteY44" fmla="*/ 54648 h 3721001"/>
              <a:gd name="connsiteX45" fmla="*/ 12191696 w 12191696"/>
              <a:gd name="connsiteY45" fmla="*/ 2452 h 3721001"/>
              <a:gd name="connsiteX46" fmla="*/ 12191696 w 12191696"/>
              <a:gd name="connsiteY46" fmla="*/ 2802467 h 3721001"/>
              <a:gd name="connsiteX47" fmla="*/ 12191695 w 12191696"/>
              <a:gd name="connsiteY47" fmla="*/ 2802467 h 3721001"/>
              <a:gd name="connsiteX48" fmla="*/ 12191695 w 12191696"/>
              <a:gd name="connsiteY48" fmla="*/ 3721001 h 3721001"/>
              <a:gd name="connsiteX49" fmla="*/ 0 w 12191696"/>
              <a:gd name="connsiteY49" fmla="*/ 3721001 h 3721001"/>
              <a:gd name="connsiteX50" fmla="*/ 0 w 12191696"/>
              <a:gd name="connsiteY50" fmla="*/ 2233825 h 3721001"/>
              <a:gd name="connsiteX51" fmla="*/ 1 w 12191696"/>
              <a:gd name="connsiteY51" fmla="*/ 2233825 h 37210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12191696" h="3721001">
                <a:moveTo>
                  <a:pt x="1" y="0"/>
                </a:moveTo>
                <a:lnTo>
                  <a:pt x="71932" y="12261"/>
                </a:lnTo>
                <a:lnTo>
                  <a:pt x="282849" y="48342"/>
                </a:lnTo>
                <a:lnTo>
                  <a:pt x="436464" y="73565"/>
                </a:lnTo>
                <a:lnTo>
                  <a:pt x="619339" y="100188"/>
                </a:lnTo>
                <a:lnTo>
                  <a:pt x="836351" y="132066"/>
                </a:lnTo>
                <a:lnTo>
                  <a:pt x="1076528" y="165696"/>
                </a:lnTo>
                <a:lnTo>
                  <a:pt x="1347183" y="201077"/>
                </a:lnTo>
                <a:lnTo>
                  <a:pt x="1642223" y="238560"/>
                </a:lnTo>
                <a:lnTo>
                  <a:pt x="1962864" y="276043"/>
                </a:lnTo>
                <a:lnTo>
                  <a:pt x="2304232" y="314226"/>
                </a:lnTo>
                <a:lnTo>
                  <a:pt x="2672421" y="349608"/>
                </a:lnTo>
                <a:lnTo>
                  <a:pt x="3057678" y="383588"/>
                </a:lnTo>
                <a:lnTo>
                  <a:pt x="3464881" y="414415"/>
                </a:lnTo>
                <a:lnTo>
                  <a:pt x="3889152" y="443841"/>
                </a:lnTo>
                <a:lnTo>
                  <a:pt x="4331710" y="471515"/>
                </a:lnTo>
                <a:lnTo>
                  <a:pt x="4558476" y="481324"/>
                </a:lnTo>
                <a:lnTo>
                  <a:pt x="4790118" y="492183"/>
                </a:lnTo>
                <a:lnTo>
                  <a:pt x="5025418" y="502342"/>
                </a:lnTo>
                <a:lnTo>
                  <a:pt x="5261937" y="508998"/>
                </a:lnTo>
                <a:lnTo>
                  <a:pt x="5503333" y="514953"/>
                </a:lnTo>
                <a:lnTo>
                  <a:pt x="5747166" y="521259"/>
                </a:lnTo>
                <a:lnTo>
                  <a:pt x="5995877" y="525462"/>
                </a:lnTo>
                <a:lnTo>
                  <a:pt x="6247026" y="525462"/>
                </a:lnTo>
                <a:lnTo>
                  <a:pt x="6500613" y="527564"/>
                </a:lnTo>
                <a:lnTo>
                  <a:pt x="6756639" y="525462"/>
                </a:lnTo>
                <a:lnTo>
                  <a:pt x="7016322" y="521259"/>
                </a:lnTo>
                <a:lnTo>
                  <a:pt x="7276005" y="517405"/>
                </a:lnTo>
                <a:lnTo>
                  <a:pt x="7539345" y="508998"/>
                </a:lnTo>
                <a:lnTo>
                  <a:pt x="7805124" y="500240"/>
                </a:lnTo>
                <a:lnTo>
                  <a:pt x="8070903" y="490081"/>
                </a:lnTo>
                <a:lnTo>
                  <a:pt x="8339121" y="475719"/>
                </a:lnTo>
                <a:lnTo>
                  <a:pt x="8609776" y="458554"/>
                </a:lnTo>
                <a:lnTo>
                  <a:pt x="8881651" y="442089"/>
                </a:lnTo>
                <a:lnTo>
                  <a:pt x="9153526" y="421071"/>
                </a:lnTo>
                <a:lnTo>
                  <a:pt x="9429058" y="395848"/>
                </a:lnTo>
                <a:lnTo>
                  <a:pt x="9700933" y="370626"/>
                </a:lnTo>
                <a:lnTo>
                  <a:pt x="9977684" y="341551"/>
                </a:lnTo>
                <a:lnTo>
                  <a:pt x="10255655" y="309672"/>
                </a:lnTo>
                <a:lnTo>
                  <a:pt x="10529968" y="276043"/>
                </a:lnTo>
                <a:lnTo>
                  <a:pt x="10807939" y="236808"/>
                </a:lnTo>
                <a:lnTo>
                  <a:pt x="11084690" y="194771"/>
                </a:lnTo>
                <a:lnTo>
                  <a:pt x="11362661" y="153085"/>
                </a:lnTo>
                <a:lnTo>
                  <a:pt x="11639412" y="104392"/>
                </a:lnTo>
                <a:lnTo>
                  <a:pt x="11914945" y="54648"/>
                </a:lnTo>
                <a:lnTo>
                  <a:pt x="12191696" y="2452"/>
                </a:lnTo>
                <a:lnTo>
                  <a:pt x="12191696" y="2802467"/>
                </a:lnTo>
                <a:lnTo>
                  <a:pt x="12191695" y="2802467"/>
                </a:lnTo>
                <a:lnTo>
                  <a:pt x="12191695" y="3721001"/>
                </a:lnTo>
                <a:lnTo>
                  <a:pt x="0" y="3721001"/>
                </a:lnTo>
                <a:lnTo>
                  <a:pt x="0" y="2233825"/>
                </a:lnTo>
                <a:lnTo>
                  <a:pt x="1" y="2233825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BB7EBE9-6ACD-55C5-29B5-4404C138648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3763" y="3784459"/>
            <a:ext cx="10996284" cy="3073541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</a:pP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Ümumi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satış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: </a:t>
            </a:r>
            <a:r>
              <a:rPr lang="en-US" sz="16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2,367,915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|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Aylıq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orta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: </a:t>
            </a:r>
            <a:r>
              <a:rPr lang="en-US" sz="16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197,326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|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Ümumi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sifariş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: </a:t>
            </a:r>
            <a:r>
              <a:rPr lang="en-US" sz="16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1,000</a:t>
            </a:r>
            <a:endParaRPr lang="az-Latn-AZ" sz="66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90000"/>
              </a:lnSpc>
            </a:pPr>
            <a:endParaRPr lang="az-Latn-AZ" sz="7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b="1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İyul</a:t>
            </a:r>
            <a:r>
              <a:rPr lang="en-US" sz="16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— $275,568 (116 </a:t>
            </a:r>
            <a:r>
              <a:rPr lang="en-US" sz="1600" b="1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sifariş</a:t>
            </a:r>
            <a:r>
              <a:rPr lang="en-US" sz="16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)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İlin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ən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güclü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ayı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. Orta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aylıq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satışdan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+40%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yüksəkdir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.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İyun-İyul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arasında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+67%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kəskin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artım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baş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verib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— </a:t>
            </a:r>
            <a:r>
              <a:rPr lang="az-Latn-AZ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burdan da belə nəticəyə gəlmək olar ki,mövsümi təlabatda artış var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.</a:t>
            </a:r>
            <a:endParaRPr lang="az-Latn-AZ"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90000"/>
              </a:lnSpc>
            </a:pPr>
            <a:endParaRPr lang="az-Latn-AZ" sz="5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b="1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Noyabr</a:t>
            </a:r>
            <a:r>
              <a:rPr lang="en-US" sz="16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— $102,161 (48 </a:t>
            </a:r>
            <a:r>
              <a:rPr lang="en-US" sz="1600" b="1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sifariş</a:t>
            </a:r>
            <a:r>
              <a:rPr lang="en-US" sz="16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)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İyuldan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63% </a:t>
            </a:r>
            <a:r>
              <a:rPr lang="en-US" sz="1600" b="1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aşağı</a:t>
            </a:r>
            <a:r>
              <a:rPr lang="en-US" sz="16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.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Oktyabrdan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Noyabra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keçiddə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-$152,134 (-60%)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—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ilin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ən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kəskin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düşüşü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. </a:t>
            </a:r>
            <a:endParaRPr lang="az-Latn-AZ"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90000"/>
              </a:lnSpc>
            </a:pPr>
            <a:endParaRPr lang="az-Latn-AZ" sz="400" b="1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>
              <a:lnSpc>
                <a:spcPct val="90000"/>
              </a:lnSpc>
            </a:pPr>
            <a:r>
              <a:rPr lang="en-US" sz="1600" b="1" dirty="0">
                <a:solidFill>
                  <a:schemeClr val="tx2">
                    <a:lumMod val="40000"/>
                    <a:lumOff val="60000"/>
                  </a:schemeClr>
                </a:solidFill>
              </a:rPr>
              <a:t>Oktyabr — $254,295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Avqust-Sentyabr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dəyişməz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qaldıqdan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sonra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Oktyabrda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güclü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bərpa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.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Payız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tələbatı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qısa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müddətli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 </a:t>
            </a:r>
            <a:r>
              <a:rPr lang="en-US" sz="1600" dirty="0" err="1">
                <a:solidFill>
                  <a:schemeClr val="tx2">
                    <a:lumMod val="40000"/>
                    <a:lumOff val="60000"/>
                  </a:schemeClr>
                </a:solidFill>
              </a:rPr>
              <a:t>olub</a:t>
            </a:r>
            <a:r>
              <a:rPr lang="en-US" sz="1600" dirty="0">
                <a:solidFill>
                  <a:schemeClr val="tx2">
                    <a:lumMod val="40000"/>
                    <a:lumOff val="60000"/>
                  </a:schemeClr>
                </a:solidFill>
              </a:rPr>
              <a:t>.</a:t>
            </a:r>
          </a:p>
          <a:p>
            <a:pPr>
              <a:lnSpc>
                <a:spcPct val="90000"/>
              </a:lnSpc>
            </a:pPr>
            <a:endParaRPr lang="en-US" sz="1600" dirty="0">
              <a:solidFill>
                <a:schemeClr val="tx2">
                  <a:lumMod val="40000"/>
                  <a:lumOff val="60000"/>
                </a:schemeClr>
              </a:solidFill>
            </a:endParaRPr>
          </a:p>
        </p:txBody>
      </p:sp>
      <p:sp>
        <p:nvSpPr>
          <p:cNvPr id="2" name="Arrow: Left 1">
            <a:hlinkClick r:id="" action="ppaction://noaction"/>
            <a:extLst>
              <a:ext uri="{FF2B5EF4-FFF2-40B4-BE49-F238E27FC236}">
                <a16:creationId xmlns:a16="http://schemas.microsoft.com/office/drawing/2014/main" id="{8DDE4DAC-66BC-A8F4-E9B6-42C329718EF1}"/>
              </a:ext>
            </a:extLst>
          </p:cNvPr>
          <p:cNvSpPr/>
          <p:nvPr/>
        </p:nvSpPr>
        <p:spPr>
          <a:xfrm>
            <a:off x="0" y="0"/>
            <a:ext cx="2113936" cy="93406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az-Latn-AZ" b="1" dirty="0"/>
              <a:t>MÜNDƏRİCAT</a:t>
            </a:r>
            <a:endParaRPr lang="en-US" b="1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0C435F8B-302E-9EE3-5EED-68A80805859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80158168"/>
              </p:ext>
            </p:extLst>
          </p:nvPr>
        </p:nvGraphicFramePr>
        <p:xfrm>
          <a:off x="1156568" y="747230"/>
          <a:ext cx="9150807" cy="25465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6307161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C0C6FC92-C524-6D7F-BF78-FAB938CB13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74561" y="1249680"/>
            <a:ext cx="4917440" cy="4490719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Top 5 </a:t>
            </a:r>
            <a:r>
              <a:rPr lang="en-US" sz="1800" dirty="0" err="1"/>
              <a:t>ümumi</a:t>
            </a:r>
            <a:r>
              <a:rPr lang="en-US" sz="1800" dirty="0"/>
              <a:t> </a:t>
            </a:r>
            <a:r>
              <a:rPr lang="en-US" sz="1800" dirty="0" err="1"/>
              <a:t>gəlir</a:t>
            </a:r>
            <a:r>
              <a:rPr lang="en-US" sz="1800" dirty="0"/>
              <a:t>: </a:t>
            </a:r>
            <a:r>
              <a:rPr lang="en-US" sz="1800" b="1" dirty="0"/>
              <a:t>$325,759</a:t>
            </a:r>
            <a:r>
              <a:rPr lang="en-US" sz="1800" dirty="0"/>
              <a:t> | </a:t>
            </a:r>
            <a:r>
              <a:rPr lang="en-US" sz="1800" dirty="0" err="1"/>
              <a:t>Ümumi</a:t>
            </a:r>
            <a:r>
              <a:rPr lang="en-US" sz="1800" dirty="0"/>
              <a:t> </a:t>
            </a:r>
            <a:r>
              <a:rPr lang="en-US" sz="1800" dirty="0" err="1"/>
              <a:t>satışa</a:t>
            </a:r>
            <a:r>
              <a:rPr lang="en-US" sz="1800" dirty="0"/>
              <a:t> </a:t>
            </a:r>
            <a:r>
              <a:rPr lang="en-US" sz="1800" dirty="0" err="1"/>
              <a:t>payı</a:t>
            </a:r>
            <a:r>
              <a:rPr lang="en-US" sz="1800" dirty="0"/>
              <a:t>: </a:t>
            </a:r>
            <a:r>
              <a:rPr lang="en-US" sz="1800" b="1" dirty="0"/>
              <a:t>13.8%</a:t>
            </a:r>
            <a:r>
              <a:rPr lang="en-US" sz="1800" dirty="0"/>
              <a:t> ($2,367,915-dən)</a:t>
            </a:r>
            <a:endParaRPr lang="az-Latn-AZ" sz="1800" dirty="0"/>
          </a:p>
          <a:p>
            <a:pPr>
              <a:lnSpc>
                <a:spcPct val="90000"/>
              </a:lnSpc>
            </a:pPr>
            <a:r>
              <a:rPr lang="en-US" sz="1800" b="1" dirty="0"/>
              <a:t>Product 21 — $71,518</a:t>
            </a:r>
            <a:r>
              <a:rPr lang="en-US" sz="1800" dirty="0"/>
              <a:t> Top 5 </a:t>
            </a:r>
            <a:r>
              <a:rPr lang="en-US" sz="1800" dirty="0" err="1"/>
              <a:t>içində</a:t>
            </a:r>
            <a:r>
              <a:rPr lang="en-US" sz="1800" dirty="0"/>
              <a:t> </a:t>
            </a:r>
            <a:r>
              <a:rPr lang="en-US" sz="1800" dirty="0" err="1"/>
              <a:t>ən</a:t>
            </a:r>
            <a:r>
              <a:rPr lang="en-US" sz="1800" dirty="0"/>
              <a:t> </a:t>
            </a:r>
            <a:r>
              <a:rPr lang="en-US" sz="1800" dirty="0" err="1"/>
              <a:t>yüksək</a:t>
            </a:r>
            <a:r>
              <a:rPr lang="en-US" sz="1800" dirty="0"/>
              <a:t> </a:t>
            </a:r>
            <a:r>
              <a:rPr lang="en-US" sz="1800" dirty="0" err="1"/>
              <a:t>gəlir</a:t>
            </a:r>
            <a:r>
              <a:rPr lang="en-US" sz="1800" dirty="0"/>
              <a:t>. </a:t>
            </a:r>
            <a:r>
              <a:rPr lang="en-US" sz="1800" dirty="0" err="1"/>
              <a:t>İkinci</a:t>
            </a:r>
            <a:r>
              <a:rPr lang="en-US" sz="1800" dirty="0"/>
              <a:t> </a:t>
            </a:r>
            <a:r>
              <a:rPr lang="en-US" sz="1800" dirty="0" err="1"/>
              <a:t>sıradan</a:t>
            </a:r>
            <a:r>
              <a:rPr lang="en-US" sz="1800" dirty="0"/>
              <a:t> </a:t>
            </a:r>
            <a:r>
              <a:rPr lang="en-US" sz="1800" b="1" dirty="0"/>
              <a:t>$5,511 (+7.7%)</a:t>
            </a:r>
            <a:r>
              <a:rPr lang="en-US" sz="1800" dirty="0"/>
              <a:t> </a:t>
            </a:r>
            <a:r>
              <a:rPr lang="en-US" sz="1800" dirty="0" err="1"/>
              <a:t>üstündür</a:t>
            </a:r>
            <a:r>
              <a:rPr lang="en-US" sz="1800" dirty="0"/>
              <a:t> — </a:t>
            </a:r>
            <a:r>
              <a:rPr lang="en-US" sz="1800" dirty="0" err="1"/>
              <a:t>fərq</a:t>
            </a:r>
            <a:r>
              <a:rPr lang="en-US" sz="1800" dirty="0"/>
              <a:t> </a:t>
            </a:r>
            <a:r>
              <a:rPr lang="en-US" sz="1800" dirty="0" err="1"/>
              <a:t>kiçikdir</a:t>
            </a:r>
            <a:r>
              <a:rPr lang="en-US" sz="1800" dirty="0"/>
              <a:t>, dominant </a:t>
            </a:r>
            <a:r>
              <a:rPr lang="en-US" sz="1800" dirty="0" err="1"/>
              <a:t>üstünlük</a:t>
            </a:r>
            <a:r>
              <a:rPr lang="en-US" sz="1800" dirty="0"/>
              <a:t> </a:t>
            </a:r>
            <a:r>
              <a:rPr lang="en-US" sz="1800" dirty="0" err="1"/>
              <a:t>yoxdur</a:t>
            </a:r>
            <a:r>
              <a:rPr lang="en-US" sz="18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1800" b="1" dirty="0"/>
              <a:t>Top 5 </a:t>
            </a:r>
            <a:r>
              <a:rPr lang="en-US" sz="1800" b="1" dirty="0" err="1"/>
              <a:t>arasında</a:t>
            </a:r>
            <a:r>
              <a:rPr lang="en-US" sz="1800" b="1" dirty="0"/>
              <a:t> </a:t>
            </a:r>
            <a:r>
              <a:rPr lang="en-US" sz="1800" b="1" dirty="0" err="1"/>
              <a:t>rəqabət</a:t>
            </a:r>
            <a:r>
              <a:rPr lang="en-US" sz="1800" b="1" dirty="0"/>
              <a:t> </a:t>
            </a:r>
            <a:r>
              <a:rPr lang="en-US" sz="1800" b="1" dirty="0" err="1"/>
              <a:t>yüksəkdir</a:t>
            </a:r>
            <a:r>
              <a:rPr lang="en-US" sz="1800" b="1" dirty="0"/>
              <a:t>:</a:t>
            </a:r>
            <a:r>
              <a:rPr lang="en-US" sz="1800" dirty="0"/>
              <a:t> 1-ci </a:t>
            </a:r>
            <a:r>
              <a:rPr lang="en-US" sz="1800" dirty="0" err="1"/>
              <a:t>və</a:t>
            </a:r>
            <a:r>
              <a:rPr lang="en-US" sz="1800" dirty="0"/>
              <a:t> 5-ci </a:t>
            </a:r>
            <a:r>
              <a:rPr lang="en-US" sz="1800" dirty="0" err="1"/>
              <a:t>arasındakı</a:t>
            </a:r>
            <a:r>
              <a:rPr lang="en-US" sz="1800" dirty="0"/>
              <a:t> </a:t>
            </a:r>
            <a:r>
              <a:rPr lang="en-US" sz="1800" dirty="0" err="1"/>
              <a:t>fərq</a:t>
            </a:r>
            <a:r>
              <a:rPr lang="en-US" sz="1800" dirty="0"/>
              <a:t> </a:t>
            </a:r>
            <a:r>
              <a:rPr lang="en-US" sz="1800" dirty="0" err="1"/>
              <a:t>cəmi</a:t>
            </a:r>
            <a:r>
              <a:rPr lang="en-US" sz="1800" dirty="0"/>
              <a:t> </a:t>
            </a:r>
            <a:r>
              <a:rPr lang="en-US" sz="1800" b="1" dirty="0"/>
              <a:t>$12,317 (20.8%).</a:t>
            </a:r>
            <a:r>
              <a:rPr lang="en-US" sz="1800" dirty="0"/>
              <a:t> Bu o </a:t>
            </a:r>
            <a:r>
              <a:rPr lang="en-US" sz="1800" dirty="0" err="1"/>
              <a:t>deməkdir</a:t>
            </a:r>
            <a:r>
              <a:rPr lang="en-US" sz="1800" dirty="0"/>
              <a:t> ki, </a:t>
            </a:r>
            <a:r>
              <a:rPr lang="en-US" sz="1800" dirty="0" err="1"/>
              <a:t>heç</a:t>
            </a:r>
            <a:r>
              <a:rPr lang="en-US" sz="1800" dirty="0"/>
              <a:t> </a:t>
            </a:r>
            <a:r>
              <a:rPr lang="en-US" sz="1800" dirty="0" err="1"/>
              <a:t>bir</a:t>
            </a:r>
            <a:r>
              <a:rPr lang="en-US" sz="1800" dirty="0"/>
              <a:t> </a:t>
            </a:r>
            <a:r>
              <a:rPr lang="en-US" sz="1800" dirty="0" err="1"/>
              <a:t>məhsul</a:t>
            </a:r>
            <a:r>
              <a:rPr lang="en-US" sz="1800" dirty="0"/>
              <a:t> </a:t>
            </a:r>
            <a:r>
              <a:rPr lang="en-US" sz="1800" dirty="0" err="1"/>
              <a:t>açıq</a:t>
            </a:r>
            <a:r>
              <a:rPr lang="en-US" sz="1800" dirty="0"/>
              <a:t> </a:t>
            </a:r>
            <a:r>
              <a:rPr lang="en-US" sz="1800" dirty="0" err="1"/>
              <a:t>şəkildə</a:t>
            </a:r>
            <a:r>
              <a:rPr lang="en-US" sz="1800" dirty="0"/>
              <a:t> </a:t>
            </a:r>
            <a:r>
              <a:rPr lang="en-US" sz="1800" dirty="0" err="1"/>
              <a:t>öndə</a:t>
            </a:r>
            <a:r>
              <a:rPr lang="en-US" sz="1800" dirty="0"/>
              <a:t> </a:t>
            </a:r>
            <a:r>
              <a:rPr lang="en-US" sz="1800" dirty="0" err="1"/>
              <a:t>deyil</a:t>
            </a:r>
            <a:r>
              <a:rPr lang="en-US" sz="1800" dirty="0"/>
              <a:t> — top 5 </a:t>
            </a:r>
            <a:r>
              <a:rPr lang="en-US" sz="1800" dirty="0" err="1"/>
              <a:t>bir-birinə</a:t>
            </a:r>
            <a:r>
              <a:rPr lang="en-US" sz="1800" dirty="0"/>
              <a:t> </a:t>
            </a:r>
            <a:r>
              <a:rPr lang="en-US" sz="1800" dirty="0" err="1"/>
              <a:t>çox</a:t>
            </a:r>
            <a:r>
              <a:rPr lang="en-US" sz="1800" dirty="0"/>
              <a:t> </a:t>
            </a:r>
            <a:r>
              <a:rPr lang="en-US" sz="1800" dirty="0" err="1"/>
              <a:t>yaxındır</a:t>
            </a:r>
            <a:r>
              <a:rPr lang="en-US" sz="1800" dirty="0"/>
              <a:t>.</a:t>
            </a:r>
          </a:p>
          <a:p>
            <a:pPr>
              <a:lnSpc>
                <a:spcPct val="90000"/>
              </a:lnSpc>
            </a:pPr>
            <a:r>
              <a:rPr lang="en-US" sz="1800" b="1" dirty="0"/>
              <a:t> </a:t>
            </a:r>
            <a:r>
              <a:rPr lang="en-US" sz="1800" b="1" dirty="0" err="1"/>
              <a:t>Konsentrasiya</a:t>
            </a:r>
            <a:r>
              <a:rPr lang="en-US" sz="1800" b="1" dirty="0"/>
              <a:t> </a:t>
            </a:r>
            <a:r>
              <a:rPr lang="en-US" sz="1800" b="1" dirty="0" err="1"/>
              <a:t>riski</a:t>
            </a:r>
            <a:r>
              <a:rPr lang="en-US" sz="1800" b="1" dirty="0"/>
              <a:t> </a:t>
            </a:r>
            <a:r>
              <a:rPr lang="en-US" sz="1800" b="1" dirty="0" err="1"/>
              <a:t>aşağıdır</a:t>
            </a:r>
            <a:r>
              <a:rPr lang="az-Latn-AZ" sz="1800" b="1" dirty="0"/>
              <a:t>-</a:t>
            </a:r>
            <a:r>
              <a:rPr lang="en-US" sz="1800" dirty="0"/>
              <a:t> Top 5 </a:t>
            </a:r>
            <a:r>
              <a:rPr lang="en-US" sz="1800" dirty="0" err="1"/>
              <a:t>məhsul</a:t>
            </a:r>
            <a:r>
              <a:rPr lang="en-US" sz="1800" dirty="0"/>
              <a:t> </a:t>
            </a:r>
            <a:r>
              <a:rPr lang="en-US" sz="1800" dirty="0" err="1"/>
              <a:t>ümumi</a:t>
            </a:r>
            <a:r>
              <a:rPr lang="en-US" sz="1800" dirty="0"/>
              <a:t> </a:t>
            </a:r>
            <a:r>
              <a:rPr lang="en-US" sz="1800" dirty="0" err="1"/>
              <a:t>gəlirin</a:t>
            </a:r>
            <a:r>
              <a:rPr lang="en-US" sz="1800" dirty="0"/>
              <a:t> </a:t>
            </a:r>
            <a:r>
              <a:rPr lang="en-US" sz="1800" dirty="0" err="1"/>
              <a:t>yalnız</a:t>
            </a:r>
            <a:r>
              <a:rPr lang="en-US" sz="1800" dirty="0"/>
              <a:t> </a:t>
            </a:r>
            <a:r>
              <a:rPr lang="en-US" sz="1800" b="1" dirty="0"/>
              <a:t>13.8%-</a:t>
            </a:r>
            <a:r>
              <a:rPr lang="en-US" sz="1800" b="1" dirty="0" err="1"/>
              <a:t>ni</a:t>
            </a:r>
            <a:r>
              <a:rPr lang="en-US" sz="1800" dirty="0"/>
              <a:t> </a:t>
            </a:r>
            <a:r>
              <a:rPr lang="en-US" sz="1800" dirty="0" err="1"/>
              <a:t>təşkil</a:t>
            </a:r>
            <a:r>
              <a:rPr lang="en-US" sz="1800" dirty="0"/>
              <a:t> </a:t>
            </a:r>
            <a:r>
              <a:rPr lang="en-US" sz="1800" dirty="0" err="1"/>
              <a:t>edir</a:t>
            </a:r>
            <a:r>
              <a:rPr lang="en-US" sz="1800" dirty="0"/>
              <a:t>. </a:t>
            </a:r>
            <a:r>
              <a:rPr lang="az-Latn-AZ" sz="1800" dirty="0"/>
              <a:t>Bu da o deməkdir ki, p</a:t>
            </a:r>
            <a:r>
              <a:rPr lang="en-US" sz="1800" dirty="0" err="1"/>
              <a:t>ortfel</a:t>
            </a:r>
            <a:r>
              <a:rPr lang="en-US" sz="1800" dirty="0"/>
              <a:t> </a:t>
            </a:r>
            <a:r>
              <a:rPr lang="en-US" sz="1800" dirty="0" err="1"/>
              <a:t>geniş</a:t>
            </a:r>
            <a:r>
              <a:rPr lang="en-US" sz="1800" dirty="0"/>
              <a:t> </a:t>
            </a:r>
            <a:r>
              <a:rPr lang="en-US" sz="1800" dirty="0" err="1"/>
              <a:t>paylanıb</a:t>
            </a:r>
            <a:r>
              <a:rPr lang="en-US" sz="1800" dirty="0"/>
              <a:t> — </a:t>
            </a:r>
            <a:r>
              <a:rPr lang="en-US" sz="1800" dirty="0" err="1"/>
              <a:t>müsbət</a:t>
            </a:r>
            <a:r>
              <a:rPr lang="en-US" sz="1800" dirty="0"/>
              <a:t> </a:t>
            </a:r>
            <a:r>
              <a:rPr lang="en-US" sz="1800" dirty="0" err="1"/>
              <a:t>işarədir</a:t>
            </a:r>
            <a:r>
              <a:rPr lang="en-US" sz="1800" dirty="0"/>
              <a:t>, </a:t>
            </a:r>
            <a:r>
              <a:rPr lang="en-US" sz="1800" dirty="0" err="1"/>
              <a:t>çünki</a:t>
            </a:r>
            <a:r>
              <a:rPr lang="en-US" sz="1800" dirty="0"/>
              <a:t> 1-2 </a:t>
            </a:r>
            <a:r>
              <a:rPr lang="en-US" sz="1800" dirty="0" err="1"/>
              <a:t>məhsula</a:t>
            </a:r>
            <a:r>
              <a:rPr lang="en-US" sz="1800" dirty="0"/>
              <a:t> </a:t>
            </a:r>
            <a:r>
              <a:rPr lang="en-US" sz="1800" dirty="0" err="1"/>
              <a:t>asılılıq</a:t>
            </a:r>
            <a:r>
              <a:rPr lang="en-US" sz="1800" dirty="0"/>
              <a:t> </a:t>
            </a:r>
            <a:r>
              <a:rPr lang="en-US" sz="1800" dirty="0" err="1"/>
              <a:t>yoxdur</a:t>
            </a:r>
            <a:r>
              <a:rPr lang="en-US" sz="1800" dirty="0"/>
              <a:t>.</a:t>
            </a:r>
          </a:p>
          <a:p>
            <a:pPr>
              <a:lnSpc>
                <a:spcPct val="90000"/>
              </a:lnSpc>
            </a:pPr>
            <a:endParaRPr lang="en-US" sz="800" dirty="0"/>
          </a:p>
        </p:txBody>
      </p:sp>
      <p:graphicFrame>
        <p:nvGraphicFramePr>
          <p:cNvPr id="5" name="Chart 4">
            <a:extLst>
              <a:ext uri="{FF2B5EF4-FFF2-40B4-BE49-F238E27FC236}">
                <a16:creationId xmlns:a16="http://schemas.microsoft.com/office/drawing/2014/main" id="{AA75FE98-AE1E-8B25-9081-3D0E320AEB9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62819561"/>
              </p:ext>
            </p:extLst>
          </p:nvPr>
        </p:nvGraphicFramePr>
        <p:xfrm>
          <a:off x="643854" y="647698"/>
          <a:ext cx="6270662" cy="556213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Arrow: Left 1">
            <a:hlinkClick r:id="rId4" action="ppaction://hlinksldjump"/>
            <a:extLst>
              <a:ext uri="{FF2B5EF4-FFF2-40B4-BE49-F238E27FC236}">
                <a16:creationId xmlns:a16="http://schemas.microsoft.com/office/drawing/2014/main" id="{0446A952-42CF-8496-D6DE-DD8CAE9551CD}"/>
              </a:ext>
            </a:extLst>
          </p:cNvPr>
          <p:cNvSpPr/>
          <p:nvPr/>
        </p:nvSpPr>
        <p:spPr>
          <a:xfrm>
            <a:off x="6430297" y="0"/>
            <a:ext cx="2113936" cy="93406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b="1" dirty="0"/>
              <a:t>MÜNDƏRİCAT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5600120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C080E9-4E8D-B429-BE76-103F7A5D6F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118555" y="1266958"/>
            <a:ext cx="4344101" cy="4528457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2000" dirty="0"/>
              <a:t>Top 5 </a:t>
            </a:r>
            <a:r>
              <a:rPr lang="en-US" sz="2000" dirty="0" err="1"/>
              <a:t>ümumi</a:t>
            </a:r>
            <a:r>
              <a:rPr lang="en-US" sz="2000" dirty="0"/>
              <a:t> </a:t>
            </a:r>
            <a:r>
              <a:rPr lang="en-US" sz="2000" dirty="0" err="1"/>
              <a:t>gəlir</a:t>
            </a:r>
            <a:r>
              <a:rPr lang="en-US" sz="2000" dirty="0"/>
              <a:t>: </a:t>
            </a:r>
            <a:r>
              <a:rPr lang="en-US" sz="2000" b="1" dirty="0"/>
              <a:t>$228,367</a:t>
            </a:r>
            <a:r>
              <a:rPr lang="en-US" sz="2000" dirty="0"/>
              <a:t> | </a:t>
            </a:r>
            <a:r>
              <a:rPr lang="en-US" sz="2000" dirty="0" err="1"/>
              <a:t>Ümumi</a:t>
            </a:r>
            <a:r>
              <a:rPr lang="en-US" sz="2000" dirty="0"/>
              <a:t> </a:t>
            </a:r>
            <a:r>
              <a:rPr lang="en-US" sz="2000" dirty="0" err="1"/>
              <a:t>satışa</a:t>
            </a:r>
            <a:r>
              <a:rPr lang="en-US" sz="2000" dirty="0"/>
              <a:t> </a:t>
            </a:r>
            <a:r>
              <a:rPr lang="en-US" sz="2000" dirty="0" err="1"/>
              <a:t>payı</a:t>
            </a:r>
            <a:r>
              <a:rPr lang="en-US" sz="2000" dirty="0"/>
              <a:t>: </a:t>
            </a:r>
            <a:r>
              <a:rPr lang="en-US" sz="2000" b="1" dirty="0"/>
              <a:t>9.6%</a:t>
            </a:r>
            <a:br>
              <a:rPr lang="az-Latn-AZ" sz="2000" b="1" dirty="0"/>
            </a:br>
            <a:r>
              <a:rPr lang="en-US" sz="2000" b="1" dirty="0"/>
              <a:t>Customer 125 — $55,845</a:t>
            </a:r>
            <a:r>
              <a:rPr lang="en-US" sz="2000" dirty="0"/>
              <a:t> </a:t>
            </a:r>
            <a:r>
              <a:rPr lang="en-US" sz="2000" dirty="0" err="1"/>
              <a:t>Həm</a:t>
            </a:r>
            <a:r>
              <a:rPr lang="en-US" sz="2000" dirty="0"/>
              <a:t> </a:t>
            </a:r>
            <a:r>
              <a:rPr lang="en-US" sz="2000" dirty="0" err="1"/>
              <a:t>sifariş</a:t>
            </a:r>
            <a:r>
              <a:rPr lang="en-US" sz="2000" dirty="0"/>
              <a:t> </a:t>
            </a:r>
            <a:r>
              <a:rPr lang="en-US" sz="2000" dirty="0" err="1"/>
              <a:t>sayında</a:t>
            </a:r>
            <a:r>
              <a:rPr lang="en-US" sz="2000" dirty="0"/>
              <a:t> (22), </a:t>
            </a:r>
            <a:r>
              <a:rPr lang="en-US" sz="2000" dirty="0" err="1"/>
              <a:t>həm</a:t>
            </a:r>
            <a:r>
              <a:rPr lang="en-US" sz="2000" dirty="0"/>
              <a:t> </a:t>
            </a:r>
            <a:r>
              <a:rPr lang="en-US" sz="2000" dirty="0" err="1"/>
              <a:t>kəmiyyətdə</a:t>
            </a:r>
            <a:r>
              <a:rPr lang="en-US" sz="2000" dirty="0"/>
              <a:t> (97), </a:t>
            </a:r>
            <a:r>
              <a:rPr lang="en-US" sz="2000" dirty="0" err="1"/>
              <a:t>həm</a:t>
            </a:r>
            <a:r>
              <a:rPr lang="en-US" sz="2000" dirty="0"/>
              <a:t> </a:t>
            </a:r>
            <a:r>
              <a:rPr lang="en-US" sz="2000" dirty="0" err="1"/>
              <a:t>də</a:t>
            </a:r>
            <a:r>
              <a:rPr lang="en-US" sz="2000" dirty="0"/>
              <a:t> </a:t>
            </a:r>
            <a:r>
              <a:rPr lang="en-US" sz="2000" dirty="0" err="1"/>
              <a:t>gəlirdə</a:t>
            </a:r>
            <a:r>
              <a:rPr lang="en-US" sz="2000" dirty="0"/>
              <a:t> </a:t>
            </a:r>
            <a:r>
              <a:rPr lang="en-US" sz="2000" dirty="0" err="1"/>
              <a:t>birinci</a:t>
            </a:r>
            <a:r>
              <a:rPr lang="en-US" sz="2000" dirty="0"/>
              <a:t>. </a:t>
            </a:r>
            <a:r>
              <a:rPr lang="en-US" sz="2000" dirty="0" err="1"/>
              <a:t>Əsl</a:t>
            </a:r>
            <a:r>
              <a:rPr lang="en-US" sz="2000" dirty="0"/>
              <a:t> VIP </a:t>
            </a:r>
            <a:r>
              <a:rPr lang="en-US" sz="2000" dirty="0" err="1"/>
              <a:t>müştəri</a:t>
            </a:r>
            <a:r>
              <a:rPr lang="en-US" sz="2000" dirty="0"/>
              <a:t>.</a:t>
            </a:r>
            <a:br>
              <a:rPr lang="en-US" sz="2000" dirty="0"/>
            </a:br>
            <a:r>
              <a:rPr lang="en-US" sz="2000" b="1" dirty="0"/>
              <a:t>💡 </a:t>
            </a:r>
            <a:r>
              <a:rPr lang="en-US" sz="2000" b="1" dirty="0" err="1"/>
              <a:t>Gizli</a:t>
            </a:r>
            <a:r>
              <a:rPr lang="en-US" sz="2000" b="1" dirty="0"/>
              <a:t> </a:t>
            </a:r>
            <a:r>
              <a:rPr lang="en-US" sz="2000" b="1" dirty="0" err="1"/>
              <a:t>dəyər</a:t>
            </a:r>
            <a:r>
              <a:rPr lang="en-US" sz="2000" b="1" dirty="0"/>
              <a:t>: Customer 23 — $40,365 (11 </a:t>
            </a:r>
            <a:r>
              <a:rPr lang="en-US" sz="2000" b="1" dirty="0" err="1"/>
              <a:t>sifariş</a:t>
            </a:r>
            <a:r>
              <a:rPr lang="en-US" sz="2000" b="1" dirty="0"/>
              <a:t>, 57 </a:t>
            </a:r>
            <a:r>
              <a:rPr lang="en-US" sz="2000" b="1" dirty="0" err="1"/>
              <a:t>ədəd</a:t>
            </a:r>
            <a:r>
              <a:rPr lang="en-US" sz="2000" b="1" dirty="0"/>
              <a:t>)</a:t>
            </a:r>
            <a:r>
              <a:rPr lang="en-US" sz="2000" dirty="0"/>
              <a:t> Az </a:t>
            </a:r>
            <a:r>
              <a:rPr lang="en-US" sz="2000" dirty="0" err="1"/>
              <a:t>alır</a:t>
            </a:r>
            <a:r>
              <a:rPr lang="en-US" sz="2000" dirty="0"/>
              <a:t>, </a:t>
            </a:r>
            <a:r>
              <a:rPr lang="en-US" sz="2000" dirty="0" err="1"/>
              <a:t>baha</a:t>
            </a:r>
            <a:r>
              <a:rPr lang="en-US" sz="2000" dirty="0"/>
              <a:t> </a:t>
            </a:r>
            <a:r>
              <a:rPr lang="en-US" sz="2000" dirty="0" err="1"/>
              <a:t>alır</a:t>
            </a:r>
            <a:r>
              <a:rPr lang="en-US" sz="2000" dirty="0"/>
              <a:t>. </a:t>
            </a:r>
            <a:r>
              <a:rPr lang="en-US" sz="2000" dirty="0" err="1"/>
              <a:t>Sifariş</a:t>
            </a:r>
            <a:r>
              <a:rPr lang="en-US" sz="2000" dirty="0"/>
              <a:t> </a:t>
            </a:r>
            <a:r>
              <a:rPr lang="en-US" sz="2000" dirty="0" err="1"/>
              <a:t>başına</a:t>
            </a:r>
            <a:r>
              <a:rPr lang="en-US" sz="2000" dirty="0"/>
              <a:t> </a:t>
            </a:r>
            <a:r>
              <a:rPr lang="en-US" sz="2000" b="1" dirty="0"/>
              <a:t>$3,670</a:t>
            </a:r>
            <a:r>
              <a:rPr lang="en-US" sz="2000" dirty="0"/>
              <a:t> — top 5 </a:t>
            </a:r>
            <a:r>
              <a:rPr lang="en-US" sz="2000" dirty="0" err="1"/>
              <a:t>içində</a:t>
            </a:r>
            <a:r>
              <a:rPr lang="en-US" sz="2000" dirty="0"/>
              <a:t> </a:t>
            </a:r>
            <a:r>
              <a:rPr lang="en-US" sz="2000" dirty="0" err="1"/>
              <a:t>ən</a:t>
            </a:r>
            <a:r>
              <a:rPr lang="en-US" sz="2000" dirty="0"/>
              <a:t> </a:t>
            </a:r>
            <a:r>
              <a:rPr lang="en-US" sz="2000" dirty="0" err="1"/>
              <a:t>yüksək</a:t>
            </a:r>
            <a:r>
              <a:rPr lang="en-US" sz="2000" dirty="0"/>
              <a:t>. </a:t>
            </a:r>
            <a:r>
              <a:rPr lang="en-US" sz="2000" dirty="0" err="1"/>
              <a:t>Ədəd</a:t>
            </a:r>
            <a:r>
              <a:rPr lang="en-US" sz="2000" dirty="0"/>
              <a:t> </a:t>
            </a:r>
            <a:r>
              <a:rPr lang="en-US" sz="2000" dirty="0" err="1"/>
              <a:t>başına</a:t>
            </a:r>
            <a:r>
              <a:rPr lang="en-US" sz="2000" dirty="0"/>
              <a:t> </a:t>
            </a:r>
            <a:r>
              <a:rPr lang="en-US" sz="2000" dirty="0" err="1"/>
              <a:t>isə</a:t>
            </a:r>
            <a:r>
              <a:rPr lang="en-US" sz="2000" dirty="0"/>
              <a:t> </a:t>
            </a:r>
            <a:r>
              <a:rPr lang="en-US" sz="2000" b="1" dirty="0"/>
              <a:t>$708</a:t>
            </a:r>
            <a:r>
              <a:rPr lang="en-US" sz="2000" dirty="0"/>
              <a:t> — </a:t>
            </a:r>
            <a:r>
              <a:rPr lang="en-US" sz="2000" dirty="0" err="1"/>
              <a:t>lükslük</a:t>
            </a:r>
            <a:r>
              <a:rPr lang="en-US" sz="2000" dirty="0"/>
              <a:t>/premium </a:t>
            </a:r>
            <a:r>
              <a:rPr lang="en-US" sz="2000" dirty="0" err="1"/>
              <a:t>seqment</a:t>
            </a:r>
            <a:r>
              <a:rPr lang="en-US" sz="2000" dirty="0"/>
              <a:t> </a:t>
            </a:r>
            <a:r>
              <a:rPr lang="en-US" sz="2000" dirty="0" err="1"/>
              <a:t>alıcısı</a:t>
            </a:r>
            <a:r>
              <a:rPr lang="en-US" sz="2000" dirty="0"/>
              <a:t>.</a:t>
            </a:r>
            <a:br>
              <a:rPr lang="en-US" sz="2000" dirty="0"/>
            </a:br>
            <a:endParaRPr lang="en-US" sz="2000" dirty="0"/>
          </a:p>
        </p:txBody>
      </p:sp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D7B8DCBC-E6D7-E437-81C7-CBF0AD21C5E9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643816581"/>
              </p:ext>
            </p:extLst>
          </p:nvPr>
        </p:nvGraphicFramePr>
        <p:xfrm>
          <a:off x="0" y="0"/>
          <a:ext cx="7118555" cy="351162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98459CFF-E319-C477-F420-5CBFCE3ECA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79579704"/>
              </p:ext>
            </p:extLst>
          </p:nvPr>
        </p:nvGraphicFramePr>
        <p:xfrm>
          <a:off x="-1" y="3511628"/>
          <a:ext cx="7084307" cy="3346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3" name="Arrow: Left 2">
            <a:hlinkClick r:id="rId5" action="ppaction://hlinksldjump"/>
            <a:extLst>
              <a:ext uri="{FF2B5EF4-FFF2-40B4-BE49-F238E27FC236}">
                <a16:creationId xmlns:a16="http://schemas.microsoft.com/office/drawing/2014/main" id="{B94527E9-55E5-8B02-DD73-29B242B00A35}"/>
              </a:ext>
            </a:extLst>
          </p:cNvPr>
          <p:cNvSpPr/>
          <p:nvPr/>
        </p:nvSpPr>
        <p:spPr>
          <a:xfrm>
            <a:off x="6646607" y="0"/>
            <a:ext cx="2113936" cy="93406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b="1" dirty="0"/>
              <a:t>MÜNDƏRİCAT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2945495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32AB4AD-779E-AC1F-5B7B-E53A7633A1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063417"/>
            <a:ext cx="3505495" cy="4675396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solidFill>
                  <a:srgbClr val="F2F2F2"/>
                </a:solidFill>
              </a:rPr>
              <a:t>Ümumi satılan: </a:t>
            </a:r>
            <a:r>
              <a:rPr lang="en-US" sz="1400" b="1">
                <a:solidFill>
                  <a:srgbClr val="F2F2F2"/>
                </a:solidFill>
              </a:rPr>
              <a:t>4,955</a:t>
            </a:r>
            <a:r>
              <a:rPr lang="en-US" sz="1400">
                <a:solidFill>
                  <a:srgbClr val="F2F2F2"/>
                </a:solidFill>
              </a:rPr>
              <a:t>  </a:t>
            </a:r>
            <a:br>
              <a:rPr lang="az-Latn-AZ" sz="1400">
                <a:solidFill>
                  <a:srgbClr val="F2F2F2"/>
                </a:solidFill>
              </a:rPr>
            </a:br>
            <a:r>
              <a:rPr lang="en-US" sz="1400">
                <a:solidFill>
                  <a:srgbClr val="F2F2F2"/>
                </a:solidFill>
              </a:rPr>
              <a:t>Ümumi qaytarılan: </a:t>
            </a:r>
            <a:r>
              <a:rPr lang="en-US" sz="1400" b="1">
                <a:solidFill>
                  <a:srgbClr val="F2F2F2"/>
                </a:solidFill>
              </a:rPr>
              <a:t>1,015</a:t>
            </a:r>
            <a:r>
              <a:rPr lang="en-US" sz="1400">
                <a:solidFill>
                  <a:srgbClr val="F2F2F2"/>
                </a:solidFill>
              </a:rPr>
              <a:t>  </a:t>
            </a:r>
            <a:br>
              <a:rPr lang="az-Latn-AZ" sz="1400">
                <a:solidFill>
                  <a:srgbClr val="F2F2F2"/>
                </a:solidFill>
              </a:rPr>
            </a:br>
            <a:r>
              <a:rPr lang="en-US" sz="1400">
                <a:solidFill>
                  <a:srgbClr val="F2F2F2"/>
                </a:solidFill>
              </a:rPr>
              <a:t>Orta qaytarılma: </a:t>
            </a:r>
            <a:r>
              <a:rPr lang="en-US" sz="1400" b="1">
                <a:solidFill>
                  <a:srgbClr val="F2F2F2"/>
                </a:solidFill>
              </a:rPr>
              <a:t>20.5%</a:t>
            </a:r>
            <a:br>
              <a:rPr lang="az-Latn-AZ" sz="1400" b="1">
                <a:solidFill>
                  <a:srgbClr val="F2F2F2"/>
                </a:solidFill>
              </a:rPr>
            </a:br>
            <a:br>
              <a:rPr lang="az-Latn-AZ" sz="1400" b="1">
                <a:solidFill>
                  <a:srgbClr val="F2F2F2"/>
                </a:solidFill>
              </a:rPr>
            </a:br>
            <a:r>
              <a:rPr lang="en-US" sz="1400" b="1">
                <a:solidFill>
                  <a:srgbClr val="F2F2F2"/>
                </a:solidFill>
              </a:rPr>
              <a:t>Home — 26%</a:t>
            </a:r>
            <a:r>
              <a:rPr lang="en-US" sz="1400">
                <a:solidFill>
                  <a:srgbClr val="F2F2F2"/>
                </a:solidFill>
              </a:rPr>
              <a:t> Orta göstəricidən </a:t>
            </a:r>
            <a:r>
              <a:rPr lang="en-US" sz="1400" b="1">
                <a:solidFill>
                  <a:srgbClr val="F2F2F2"/>
                </a:solidFill>
              </a:rPr>
              <a:t>5.5 faiz bəndi</a:t>
            </a:r>
            <a:r>
              <a:rPr lang="en-US" sz="1400">
                <a:solidFill>
                  <a:srgbClr val="F2F2F2"/>
                </a:solidFill>
              </a:rPr>
              <a:t> yüksəkdir. Hər 4 Home məhsulundan biri qaytarılır. Ən çox qaytarılan kateqoriyadır</a:t>
            </a:r>
            <a:r>
              <a:rPr lang="az-Latn-AZ" sz="1400">
                <a:solidFill>
                  <a:srgbClr val="F2F2F2"/>
                </a:solidFill>
              </a:rPr>
              <a:t>,</a:t>
            </a:r>
            <a:r>
              <a:rPr lang="en-US" sz="1400">
                <a:solidFill>
                  <a:srgbClr val="F2F2F2"/>
                </a:solidFill>
              </a:rPr>
              <a:t> ölçü uyğunsuzluğu, keyfiyyət gözləntiləri və ya impuls alışlar səbəb ola bilər.</a:t>
            </a:r>
            <a:br>
              <a:rPr lang="en-US" sz="1400">
                <a:solidFill>
                  <a:srgbClr val="F2F2F2"/>
                </a:solidFill>
              </a:rPr>
            </a:br>
            <a:r>
              <a:rPr lang="en-US" sz="1400" b="1">
                <a:solidFill>
                  <a:srgbClr val="F2F2F2"/>
                </a:solidFill>
              </a:rPr>
              <a:t>Electronics — 21%</a:t>
            </a:r>
            <a:r>
              <a:rPr lang="en-US" sz="1400">
                <a:solidFill>
                  <a:srgbClr val="F2F2F2"/>
                </a:solidFill>
              </a:rPr>
              <a:t> Orta göstəricidən yuxarı, lakin Home qədər kritik deyil. Electronics-də hər qaytarılma yüksək dəyər itkisi deməkdir — faiz kiçik görünsə də, maliyyə təsiri böyükdür.</a:t>
            </a:r>
            <a:br>
              <a:rPr lang="en-US" sz="1400">
                <a:solidFill>
                  <a:srgbClr val="F2F2F2"/>
                </a:solidFill>
              </a:rPr>
            </a:br>
            <a:r>
              <a:rPr lang="en-US" sz="1400" b="1">
                <a:solidFill>
                  <a:srgbClr val="F2F2F2"/>
                </a:solidFill>
              </a:rPr>
              <a:t>Ən sabit kateqoriyalar: Books və Toys — 18%</a:t>
            </a:r>
            <a:r>
              <a:rPr lang="en-US" sz="1400">
                <a:solidFill>
                  <a:srgbClr val="F2F2F2"/>
                </a:solidFill>
              </a:rPr>
              <a:t> Hər ikisi ortadan </a:t>
            </a:r>
            <a:r>
              <a:rPr lang="en-US" sz="1400" b="1">
                <a:solidFill>
                  <a:srgbClr val="F2F2F2"/>
                </a:solidFill>
              </a:rPr>
              <a:t>2.5 faiz bəndi</a:t>
            </a:r>
            <a:r>
              <a:rPr lang="en-US" sz="1400">
                <a:solidFill>
                  <a:srgbClr val="F2F2F2"/>
                </a:solidFill>
              </a:rPr>
              <a:t> aşağıdadır. Müştəri gözləntiləri bu kateqoriyalarda daha yaxşı qarşılanır.</a:t>
            </a:r>
            <a:br>
              <a:rPr lang="en-US" sz="1400">
                <a:solidFill>
                  <a:srgbClr val="F2F2F2"/>
                </a:solidFill>
              </a:rPr>
            </a:br>
            <a:endParaRPr lang="en-US" sz="1400">
              <a:solidFill>
                <a:srgbClr val="F2F2F2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AB2B2A14-E124-2797-806C-E7C9D77B493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550650275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Arrow: Left 2">
            <a:hlinkClick r:id="rId3" action="ppaction://hlinksldjump"/>
            <a:extLst>
              <a:ext uri="{FF2B5EF4-FFF2-40B4-BE49-F238E27FC236}">
                <a16:creationId xmlns:a16="http://schemas.microsoft.com/office/drawing/2014/main" id="{779DACA5-3FBE-1D17-3191-B421853B49D9}"/>
              </a:ext>
            </a:extLst>
          </p:cNvPr>
          <p:cNvSpPr/>
          <p:nvPr/>
        </p:nvSpPr>
        <p:spPr>
          <a:xfrm>
            <a:off x="6784" y="0"/>
            <a:ext cx="2113936" cy="93406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b="1" dirty="0"/>
              <a:t>MÜNDƏRİCAT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01767140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2000"/>
                <a:hueMod val="108000"/>
                <a:satMod val="164000"/>
                <a:lumMod val="69000"/>
              </a:schemeClr>
              <a:schemeClr val="bg2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9982D-9182-58A4-8EE7-DBB2160A4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6195" y="804672"/>
            <a:ext cx="3521359" cy="5248656"/>
          </a:xfrm>
        </p:spPr>
        <p:txBody>
          <a:bodyPr anchor="ctr">
            <a:noAutofit/>
          </a:bodyPr>
          <a:lstStyle/>
          <a:p>
            <a:r>
              <a:rPr lang="en-US" sz="1600" b="1" dirty="0"/>
              <a:t>⚖️ Cash </a:t>
            </a:r>
            <a:r>
              <a:rPr lang="en-US" sz="1600" b="1" dirty="0" err="1"/>
              <a:t>və</a:t>
            </a:r>
            <a:r>
              <a:rPr lang="en-US" sz="1600" b="1" dirty="0"/>
              <a:t> Transfer </a:t>
            </a:r>
            <a:r>
              <a:rPr lang="en-US" sz="1600" b="1" dirty="0" err="1"/>
              <a:t>praktiki</a:t>
            </a:r>
            <a:r>
              <a:rPr lang="en-US" sz="1600" b="1" dirty="0"/>
              <a:t> </a:t>
            </a:r>
            <a:r>
              <a:rPr lang="en-US" sz="1600" b="1" dirty="0" err="1"/>
              <a:t>olaraq</a:t>
            </a:r>
            <a:r>
              <a:rPr lang="en-US" sz="1600" b="1" dirty="0"/>
              <a:t> </a:t>
            </a:r>
            <a:r>
              <a:rPr lang="en-US" sz="1600" b="1" dirty="0" err="1"/>
              <a:t>bərabərdir</a:t>
            </a:r>
            <a:r>
              <a:rPr lang="en-US" sz="1600" b="1" dirty="0"/>
              <a:t>:</a:t>
            </a:r>
            <a:r>
              <a:rPr lang="en-US" sz="1600" dirty="0"/>
              <a:t> Cash </a:t>
            </a:r>
            <a:r>
              <a:rPr lang="en-US" sz="1600" b="1" dirty="0"/>
              <a:t>35.2%</a:t>
            </a:r>
            <a:r>
              <a:rPr lang="en-US" sz="1600" dirty="0"/>
              <a:t>, Transfer </a:t>
            </a:r>
            <a:r>
              <a:rPr lang="en-US" sz="1600" b="1" dirty="0"/>
              <a:t>35.1%</a:t>
            </a:r>
            <a:r>
              <a:rPr lang="en-US" sz="1600" dirty="0"/>
              <a:t> — </a:t>
            </a:r>
            <a:r>
              <a:rPr lang="en-US" sz="1600" dirty="0" err="1"/>
              <a:t>aradakı</a:t>
            </a:r>
            <a:r>
              <a:rPr lang="en-US" sz="1600" dirty="0"/>
              <a:t> </a:t>
            </a:r>
            <a:r>
              <a:rPr lang="en-US" sz="1600" dirty="0" err="1"/>
              <a:t>fərq</a:t>
            </a:r>
            <a:r>
              <a:rPr lang="en-US" sz="1600" dirty="0"/>
              <a:t> </a:t>
            </a:r>
            <a:r>
              <a:rPr lang="en-US" sz="1600" dirty="0" err="1"/>
              <a:t>cəmi</a:t>
            </a:r>
            <a:r>
              <a:rPr lang="en-US" sz="1600" dirty="0"/>
              <a:t> </a:t>
            </a:r>
            <a:r>
              <a:rPr lang="en-US" sz="1600" b="1" dirty="0"/>
              <a:t>1 </a:t>
            </a:r>
            <a:r>
              <a:rPr lang="en-US" sz="1600" b="1" dirty="0" err="1"/>
              <a:t>sifariş</a:t>
            </a:r>
            <a:r>
              <a:rPr lang="en-US" sz="1600" dirty="0"/>
              <a:t>. </a:t>
            </a:r>
            <a:r>
              <a:rPr lang="en-US" sz="1600" dirty="0" err="1"/>
              <a:t>Heç</a:t>
            </a:r>
            <a:r>
              <a:rPr lang="en-US" sz="1600" dirty="0"/>
              <a:t> </a:t>
            </a:r>
            <a:r>
              <a:rPr lang="en-US" sz="1600" dirty="0" err="1"/>
              <a:t>biri</a:t>
            </a:r>
            <a:r>
              <a:rPr lang="en-US" sz="1600" dirty="0"/>
              <a:t> dominant </a:t>
            </a:r>
            <a:r>
              <a:rPr lang="en-US" sz="1600" dirty="0" err="1"/>
              <a:t>deyil</a:t>
            </a:r>
            <a:r>
              <a:rPr lang="en-US" sz="1600" dirty="0"/>
              <a:t>. İki </a:t>
            </a:r>
            <a:r>
              <a:rPr lang="en-US" sz="1600" dirty="0" err="1"/>
              <a:t>ödəniş</a:t>
            </a:r>
            <a:r>
              <a:rPr lang="en-US" sz="1600" dirty="0"/>
              <a:t> </a:t>
            </a:r>
            <a:r>
              <a:rPr lang="en-US" sz="1600" dirty="0" err="1"/>
              <a:t>üsulu</a:t>
            </a:r>
            <a:r>
              <a:rPr lang="en-US" sz="1600" dirty="0"/>
              <a:t> </a:t>
            </a:r>
            <a:r>
              <a:rPr lang="en-US" sz="1600" dirty="0" err="1"/>
              <a:t>eyni</a:t>
            </a:r>
            <a:r>
              <a:rPr lang="en-US" sz="1600" dirty="0"/>
              <a:t> </a:t>
            </a:r>
            <a:r>
              <a:rPr lang="en-US" sz="1600" dirty="0" err="1"/>
              <a:t>çəkidə</a:t>
            </a:r>
            <a:r>
              <a:rPr lang="en-US" sz="1600" dirty="0"/>
              <a:t> </a:t>
            </a:r>
            <a:r>
              <a:rPr lang="en-US" sz="1600" dirty="0" err="1"/>
              <a:t>dayanır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b="1" dirty="0"/>
              <a:t>💳 Card </a:t>
            </a:r>
            <a:r>
              <a:rPr lang="en-US" sz="1600" b="1" dirty="0" err="1"/>
              <a:t>geri</a:t>
            </a:r>
            <a:r>
              <a:rPr lang="en-US" sz="1600" b="1" dirty="0"/>
              <a:t> </a:t>
            </a:r>
            <a:r>
              <a:rPr lang="en-US" sz="1600" b="1" dirty="0" err="1"/>
              <a:t>qalır</a:t>
            </a:r>
            <a:r>
              <a:rPr lang="en-US" sz="1600" b="1" dirty="0"/>
              <a:t> — 29.7%</a:t>
            </a:r>
            <a:r>
              <a:rPr lang="en-US" sz="1600" dirty="0"/>
              <a:t> </a:t>
            </a:r>
            <a:r>
              <a:rPr lang="en-US" sz="1600" dirty="0" err="1"/>
              <a:t>Digər</a:t>
            </a:r>
            <a:r>
              <a:rPr lang="en-US" sz="1600" dirty="0"/>
              <a:t> </a:t>
            </a:r>
            <a:r>
              <a:rPr lang="en-US" sz="1600" dirty="0" err="1"/>
              <a:t>iki</a:t>
            </a:r>
            <a:r>
              <a:rPr lang="en-US" sz="1600" dirty="0"/>
              <a:t> </a:t>
            </a:r>
            <a:r>
              <a:rPr lang="en-US" sz="1600" dirty="0" err="1"/>
              <a:t>üsuldan</a:t>
            </a:r>
            <a:r>
              <a:rPr lang="en-US" sz="1600" dirty="0"/>
              <a:t> </a:t>
            </a:r>
            <a:r>
              <a:rPr lang="en-US" sz="1600" b="1" dirty="0"/>
              <a:t>~5.4 </a:t>
            </a:r>
            <a:r>
              <a:rPr lang="en-US" sz="1600" b="1" dirty="0" err="1"/>
              <a:t>faiz</a:t>
            </a:r>
            <a:r>
              <a:rPr lang="en-US" sz="1600" b="1" dirty="0"/>
              <a:t> </a:t>
            </a:r>
            <a:r>
              <a:rPr lang="en-US" sz="1600" b="1" dirty="0" err="1"/>
              <a:t>bəndi</a:t>
            </a:r>
            <a:r>
              <a:rPr lang="en-US" sz="1600" dirty="0"/>
              <a:t> </a:t>
            </a:r>
            <a:r>
              <a:rPr lang="en-US" sz="1600" dirty="0" err="1"/>
              <a:t>aşağıdadır</a:t>
            </a:r>
            <a:r>
              <a:rPr lang="en-US" sz="1600" dirty="0"/>
              <a:t>. Kart </a:t>
            </a:r>
            <a:r>
              <a:rPr lang="en-US" sz="1600" dirty="0" err="1"/>
              <a:t>istifadəsinin</a:t>
            </a:r>
            <a:r>
              <a:rPr lang="en-US" sz="1600" dirty="0"/>
              <a:t> </a:t>
            </a:r>
            <a:r>
              <a:rPr lang="en-US" sz="1600" dirty="0" err="1"/>
              <a:t>aşağı</a:t>
            </a:r>
            <a:r>
              <a:rPr lang="en-US" sz="1600" dirty="0"/>
              <a:t> </a:t>
            </a:r>
            <a:r>
              <a:rPr lang="en-US" sz="1600" dirty="0" err="1"/>
              <a:t>olması</a:t>
            </a:r>
            <a:r>
              <a:rPr lang="en-US" sz="1600" dirty="0"/>
              <a:t> </a:t>
            </a:r>
            <a:r>
              <a:rPr lang="en-US" sz="1600" dirty="0" err="1"/>
              <a:t>ya</a:t>
            </a:r>
            <a:r>
              <a:rPr lang="en-US" sz="1600" dirty="0"/>
              <a:t> </a:t>
            </a:r>
            <a:r>
              <a:rPr lang="en-US" sz="1600" dirty="0" err="1"/>
              <a:t>infrastruktur</a:t>
            </a:r>
            <a:r>
              <a:rPr lang="en-US" sz="1600" dirty="0"/>
              <a:t> </a:t>
            </a:r>
            <a:r>
              <a:rPr lang="en-US" sz="1600" dirty="0" err="1"/>
              <a:t>məhdudiyyətinə</a:t>
            </a:r>
            <a:r>
              <a:rPr lang="en-US" sz="1600" dirty="0"/>
              <a:t>, </a:t>
            </a:r>
            <a:r>
              <a:rPr lang="en-US" sz="1600" dirty="0" err="1"/>
              <a:t>ya</a:t>
            </a:r>
            <a:r>
              <a:rPr lang="en-US" sz="1600" dirty="0"/>
              <a:t> </a:t>
            </a:r>
            <a:r>
              <a:rPr lang="en-US" sz="1600" dirty="0" err="1"/>
              <a:t>komissiya</a:t>
            </a:r>
            <a:r>
              <a:rPr lang="en-US" sz="1600" dirty="0"/>
              <a:t> </a:t>
            </a:r>
            <a:r>
              <a:rPr lang="en-US" sz="1600" dirty="0" err="1"/>
              <a:t>xərclərinə</a:t>
            </a:r>
            <a:r>
              <a:rPr lang="en-US" sz="1600" dirty="0"/>
              <a:t>, </a:t>
            </a:r>
            <a:r>
              <a:rPr lang="en-US" sz="1600" dirty="0" err="1"/>
              <a:t>ya</a:t>
            </a:r>
            <a:r>
              <a:rPr lang="en-US" sz="1600" dirty="0"/>
              <a:t> da </a:t>
            </a:r>
            <a:r>
              <a:rPr lang="en-US" sz="1600" dirty="0" err="1"/>
              <a:t>müştəri</a:t>
            </a:r>
            <a:r>
              <a:rPr lang="en-US" sz="1600" dirty="0"/>
              <a:t> </a:t>
            </a:r>
            <a:r>
              <a:rPr lang="en-US" sz="1600" dirty="0" err="1"/>
              <a:t>seqmentinin</a:t>
            </a:r>
            <a:r>
              <a:rPr lang="en-US" sz="1600" dirty="0"/>
              <a:t> </a:t>
            </a:r>
            <a:r>
              <a:rPr lang="en-US" sz="1600" dirty="0" err="1"/>
              <a:t>xüsusiyyətlərinə</a:t>
            </a:r>
            <a:r>
              <a:rPr lang="en-US" sz="1600" dirty="0"/>
              <a:t> </a:t>
            </a:r>
            <a:r>
              <a:rPr lang="en-US" sz="1600" dirty="0" err="1"/>
              <a:t>işarə</a:t>
            </a:r>
            <a:r>
              <a:rPr lang="en-US" sz="1600" dirty="0"/>
              <a:t> </a:t>
            </a:r>
            <a:r>
              <a:rPr lang="en-US" sz="1600" dirty="0" err="1"/>
              <a:t>edir</a:t>
            </a:r>
            <a:r>
              <a:rPr lang="en-US" sz="1600" dirty="0"/>
              <a:t>.</a:t>
            </a:r>
            <a:br>
              <a:rPr lang="en-US" sz="1600" dirty="0"/>
            </a:br>
            <a:r>
              <a:rPr lang="en-US" sz="1600" b="1" dirty="0"/>
              <a:t>📱 </a:t>
            </a:r>
            <a:r>
              <a:rPr lang="en-US" sz="1600" b="1" dirty="0" err="1"/>
              <a:t>Rəqəmsal</a:t>
            </a:r>
            <a:r>
              <a:rPr lang="en-US" sz="1600" b="1" dirty="0"/>
              <a:t> </a:t>
            </a:r>
            <a:r>
              <a:rPr lang="en-US" sz="1600" b="1" dirty="0" err="1"/>
              <a:t>ödənişlər</a:t>
            </a:r>
            <a:r>
              <a:rPr lang="en-US" sz="1600" b="1" dirty="0"/>
              <a:t> </a:t>
            </a:r>
            <a:r>
              <a:rPr lang="en-US" sz="1600" b="1" dirty="0" err="1"/>
              <a:t>üstünlük</a:t>
            </a:r>
            <a:r>
              <a:rPr lang="en-US" sz="1600" b="1" dirty="0"/>
              <a:t> </a:t>
            </a:r>
            <a:r>
              <a:rPr lang="en-US" sz="1600" b="1" dirty="0" err="1"/>
              <a:t>təşkil</a:t>
            </a:r>
            <a:r>
              <a:rPr lang="en-US" sz="1600" b="1" dirty="0"/>
              <a:t> </a:t>
            </a:r>
            <a:r>
              <a:rPr lang="en-US" sz="1600" b="1" dirty="0" err="1"/>
              <a:t>edir</a:t>
            </a:r>
            <a:r>
              <a:rPr lang="en-US" sz="1600" b="1" dirty="0"/>
              <a:t>:</a:t>
            </a:r>
            <a:r>
              <a:rPr lang="en-US" sz="1600" dirty="0"/>
              <a:t> Transfer + Card = </a:t>
            </a:r>
            <a:r>
              <a:rPr lang="en-US" sz="1600" b="1" dirty="0"/>
              <a:t>64.8%</a:t>
            </a:r>
            <a:r>
              <a:rPr lang="en-US" sz="1600" dirty="0"/>
              <a:t> — </a:t>
            </a:r>
            <a:r>
              <a:rPr lang="en-US" sz="1600" dirty="0" err="1"/>
              <a:t>müştərilərin</a:t>
            </a:r>
            <a:r>
              <a:rPr lang="en-US" sz="1600" dirty="0"/>
              <a:t> </a:t>
            </a:r>
            <a:r>
              <a:rPr lang="en-US" sz="1600" dirty="0" err="1"/>
              <a:t>əksəriyyəti</a:t>
            </a:r>
            <a:r>
              <a:rPr lang="en-US" sz="1600" dirty="0"/>
              <a:t> </a:t>
            </a:r>
            <a:r>
              <a:rPr lang="en-US" sz="1600" dirty="0" err="1"/>
              <a:t>nağdsız</a:t>
            </a:r>
            <a:r>
              <a:rPr lang="en-US" sz="1600" dirty="0"/>
              <a:t> </a:t>
            </a:r>
            <a:r>
              <a:rPr lang="en-US" sz="1600" dirty="0" err="1"/>
              <a:t>ödəniş</a:t>
            </a:r>
            <a:r>
              <a:rPr lang="en-US" sz="1600" dirty="0"/>
              <a:t> </a:t>
            </a:r>
            <a:r>
              <a:rPr lang="en-US" sz="1600" dirty="0" err="1"/>
              <a:t>edir</a:t>
            </a:r>
            <a:r>
              <a:rPr lang="en-US" sz="1600" dirty="0"/>
              <a:t>. Lakin "</a:t>
            </a:r>
            <a:r>
              <a:rPr lang="en-US" sz="1600" dirty="0" err="1"/>
              <a:t>rəqəmsal</a:t>
            </a:r>
            <a:r>
              <a:rPr lang="en-US" sz="1600" dirty="0"/>
              <a:t>" </a:t>
            </a:r>
            <a:r>
              <a:rPr lang="en-US" sz="1600" dirty="0" err="1"/>
              <a:t>seqmentin</a:t>
            </a:r>
            <a:r>
              <a:rPr lang="en-US" sz="1600" dirty="0"/>
              <a:t> </a:t>
            </a:r>
            <a:r>
              <a:rPr lang="en-US" sz="1600" dirty="0" err="1"/>
              <a:t>yarısı</a:t>
            </a:r>
            <a:r>
              <a:rPr lang="en-US" sz="1600" dirty="0"/>
              <a:t> </a:t>
            </a:r>
            <a:r>
              <a:rPr lang="en-US" sz="1600" dirty="0" err="1"/>
              <a:t>köhnə</a:t>
            </a:r>
            <a:r>
              <a:rPr lang="en-US" sz="1600" dirty="0"/>
              <a:t> </a:t>
            </a:r>
            <a:r>
              <a:rPr lang="en-US" sz="1600" dirty="0" err="1"/>
              <a:t>üsul</a:t>
            </a:r>
            <a:r>
              <a:rPr lang="en-US" sz="1600" dirty="0"/>
              <a:t> </a:t>
            </a:r>
            <a:r>
              <a:rPr lang="en-US" sz="1600" dirty="0" err="1"/>
              <a:t>olan</a:t>
            </a:r>
            <a:r>
              <a:rPr lang="en-US" sz="1600" dirty="0"/>
              <a:t> bank </a:t>
            </a:r>
            <a:r>
              <a:rPr lang="en-US" sz="1600" dirty="0" err="1"/>
              <a:t>transferidir</a:t>
            </a:r>
            <a:r>
              <a:rPr lang="en-US" sz="1600" dirty="0"/>
              <a:t>.</a:t>
            </a:r>
            <a:br>
              <a:rPr lang="en-US" sz="1600" dirty="0"/>
            </a:br>
            <a:endParaRPr lang="en-US" sz="1600" dirty="0"/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21293229-7C7F-DF13-D045-39386F7E4DA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4975225" y="804863"/>
          <a:ext cx="6400800" cy="52482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" name="Arrow: Left 2">
            <a:hlinkClick r:id="rId4" action="ppaction://hlinksldjump"/>
            <a:extLst>
              <a:ext uri="{FF2B5EF4-FFF2-40B4-BE49-F238E27FC236}">
                <a16:creationId xmlns:a16="http://schemas.microsoft.com/office/drawing/2014/main" id="{0EBC8225-B0AD-C29B-202F-917045EA4C40}"/>
              </a:ext>
            </a:extLst>
          </p:cNvPr>
          <p:cNvSpPr/>
          <p:nvPr/>
        </p:nvSpPr>
        <p:spPr>
          <a:xfrm>
            <a:off x="0" y="0"/>
            <a:ext cx="2113936" cy="93406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b="1" dirty="0"/>
              <a:t>MÜNDƏRİCAT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295804952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BE6F9A3-300E-47F5-B41C-C8C5E758DE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400893C-1EE5-F545-D194-C560C9758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1063417"/>
            <a:ext cx="3505495" cy="4675396"/>
          </a:xfrm>
        </p:spPr>
        <p:txBody>
          <a:bodyPr anchor="ctr">
            <a:norm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#1 </a:t>
            </a:r>
            <a:r>
              <a:rPr lang="en-US" sz="1400" b="1" dirty="0" err="1">
                <a:solidFill>
                  <a:schemeClr val="bg1"/>
                </a:solidFill>
              </a:rPr>
              <a:t>Səbəb</a:t>
            </a:r>
            <a:r>
              <a:rPr lang="en-US" sz="1400" b="1" dirty="0">
                <a:solidFill>
                  <a:schemeClr val="bg1"/>
                </a:solidFill>
              </a:rPr>
              <a:t>: Customer Dissatisfaction </a:t>
            </a:r>
            <a:r>
              <a:rPr lang="az-Latn-AZ" sz="1400" b="1" dirty="0">
                <a:solidFill>
                  <a:schemeClr val="bg1"/>
                </a:solidFill>
              </a:rPr>
              <a:t>-</a:t>
            </a:r>
            <a:r>
              <a:rPr lang="en-US" sz="1400" b="1" dirty="0">
                <a:solidFill>
                  <a:schemeClr val="bg1"/>
                </a:solidFill>
              </a:rPr>
              <a:t>39% (398)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Ən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böyük</a:t>
            </a:r>
            <a:r>
              <a:rPr lang="en-US" sz="1400" dirty="0">
                <a:solidFill>
                  <a:schemeClr val="bg1"/>
                </a:solidFill>
              </a:rPr>
              <a:t> problem </a:t>
            </a:r>
            <a:r>
              <a:rPr lang="en-US" sz="1400" b="1" dirty="0" err="1">
                <a:solidFill>
                  <a:schemeClr val="bg1"/>
                </a:solidFill>
              </a:rPr>
              <a:t>məhsulun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özü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deyil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az-Latn-AZ" sz="1400" dirty="0">
                <a:solidFill>
                  <a:schemeClr val="bg1"/>
                </a:solidFill>
              </a:rPr>
              <a:t>-</a:t>
            </a:r>
            <a:r>
              <a:rPr lang="en-US" sz="1400" dirty="0" err="1">
                <a:solidFill>
                  <a:schemeClr val="bg1"/>
                </a:solidFill>
              </a:rPr>
              <a:t>müştərinin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gözləntiləri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qarşılanmır</a:t>
            </a:r>
            <a:r>
              <a:rPr lang="en-US" sz="1400" dirty="0">
                <a:solidFill>
                  <a:schemeClr val="bg1"/>
                </a:solidFill>
              </a:rPr>
              <a:t>. </a:t>
            </a:r>
            <a:r>
              <a:rPr lang="en-US" sz="1400" dirty="0" err="1">
                <a:solidFill>
                  <a:schemeClr val="bg1"/>
                </a:solidFill>
              </a:rPr>
              <a:t>Şəkil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təsvir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ölçü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keyfiyyət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beklentisi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uyğunsuzluğu</a:t>
            </a:r>
            <a:r>
              <a:rPr lang="en-US" sz="1400" dirty="0">
                <a:solidFill>
                  <a:schemeClr val="bg1"/>
                </a:solidFill>
              </a:rPr>
              <a:t>. </a:t>
            </a:r>
            <a:r>
              <a:rPr lang="en-US" sz="1400" b="1" dirty="0" err="1">
                <a:solidFill>
                  <a:schemeClr val="bg1"/>
                </a:solidFill>
              </a:rPr>
              <a:t>Məhsul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səhifəsi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optimallaşdırılsa</a:t>
            </a:r>
            <a:r>
              <a:rPr lang="en-US" sz="1400" b="1" dirty="0">
                <a:solidFill>
                  <a:schemeClr val="bg1"/>
                </a:solidFill>
              </a:rPr>
              <a:t>, </a:t>
            </a:r>
            <a:r>
              <a:rPr lang="en-US" sz="1400" b="1" dirty="0" err="1">
                <a:solidFill>
                  <a:schemeClr val="bg1"/>
                </a:solidFill>
              </a:rPr>
              <a:t>bu</a:t>
            </a:r>
            <a:r>
              <a:rPr lang="en-US" sz="1400" b="1" dirty="0">
                <a:solidFill>
                  <a:schemeClr val="bg1"/>
                </a:solidFill>
              </a:rPr>
              <a:t> 39% </a:t>
            </a:r>
            <a:r>
              <a:rPr lang="en-US" sz="1400" b="1" dirty="0" err="1">
                <a:solidFill>
                  <a:schemeClr val="bg1"/>
                </a:solidFill>
              </a:rPr>
              <a:t>endirilə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bilər</a:t>
            </a:r>
            <a:r>
              <a:rPr lang="en-US" sz="1400" b="1" dirty="0">
                <a:solidFill>
                  <a:schemeClr val="bg1"/>
                </a:solidFill>
              </a:rPr>
              <a:t>.</a:t>
            </a:r>
            <a:br>
              <a:rPr lang="en-US" sz="1400" dirty="0">
                <a:solidFill>
                  <a:schemeClr val="bg1"/>
                </a:solidFill>
              </a:rPr>
            </a:br>
            <a:br>
              <a:rPr lang="az-Latn-AZ" sz="1400" dirty="0">
                <a:solidFill>
                  <a:schemeClr val="bg1"/>
                </a:solidFill>
              </a:rPr>
            </a:br>
            <a:r>
              <a:rPr lang="en-US" sz="1400" b="1" dirty="0">
                <a:solidFill>
                  <a:schemeClr val="bg1"/>
                </a:solidFill>
              </a:rPr>
              <a:t>#2 </a:t>
            </a:r>
            <a:r>
              <a:rPr lang="en-US" sz="1400" b="1" dirty="0" err="1">
                <a:solidFill>
                  <a:schemeClr val="bg1"/>
                </a:solidFill>
              </a:rPr>
              <a:t>Səbəb</a:t>
            </a:r>
            <a:r>
              <a:rPr lang="en-US" sz="1400" b="1" dirty="0">
                <a:solidFill>
                  <a:schemeClr val="bg1"/>
                </a:solidFill>
              </a:rPr>
              <a:t>: Wrong Item </a:t>
            </a:r>
            <a:r>
              <a:rPr lang="az-Latn-AZ" sz="1400" b="1" dirty="0">
                <a:solidFill>
                  <a:schemeClr val="bg1"/>
                </a:solidFill>
              </a:rPr>
              <a:t>-</a:t>
            </a:r>
            <a:r>
              <a:rPr lang="en-US" sz="1400" b="1" dirty="0">
                <a:solidFill>
                  <a:schemeClr val="bg1"/>
                </a:solidFill>
              </a:rPr>
              <a:t> 36% (361)</a:t>
            </a:r>
            <a:r>
              <a:rPr lang="en-US" sz="1400" dirty="0">
                <a:solidFill>
                  <a:schemeClr val="bg1"/>
                </a:solidFill>
              </a:rPr>
              <a:t> Bu </a:t>
            </a:r>
            <a:r>
              <a:rPr lang="en-US" sz="1400" dirty="0" err="1">
                <a:solidFill>
                  <a:schemeClr val="bg1"/>
                </a:solidFill>
              </a:rPr>
              <a:t>tamamilə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əməliyyat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xətasıdır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az-Latn-AZ" sz="1400" dirty="0">
                <a:solidFill>
                  <a:schemeClr val="bg1"/>
                </a:solidFill>
              </a:rPr>
              <a:t>-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müştəri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başqa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məhsul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sifariş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edib</a:t>
            </a:r>
            <a:r>
              <a:rPr lang="en-US" sz="1400" dirty="0">
                <a:solidFill>
                  <a:schemeClr val="bg1"/>
                </a:solidFill>
              </a:rPr>
              <a:t>, </a:t>
            </a:r>
            <a:r>
              <a:rPr lang="en-US" sz="1400" dirty="0" err="1">
                <a:solidFill>
                  <a:schemeClr val="bg1"/>
                </a:solidFill>
              </a:rPr>
              <a:t>başqası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göndərilib</a:t>
            </a:r>
            <a:r>
              <a:rPr lang="en-US" sz="1400" dirty="0">
                <a:solidFill>
                  <a:schemeClr val="bg1"/>
                </a:solidFill>
              </a:rPr>
              <a:t>. Anbar </a:t>
            </a:r>
            <a:r>
              <a:rPr lang="en-US" sz="1400" dirty="0" err="1">
                <a:solidFill>
                  <a:schemeClr val="bg1"/>
                </a:solidFill>
              </a:rPr>
              <a:t>və</a:t>
            </a:r>
            <a:r>
              <a:rPr lang="en-US" sz="1400" dirty="0">
                <a:solidFill>
                  <a:schemeClr val="bg1"/>
                </a:solidFill>
              </a:rPr>
              <a:t> fulfillment </a:t>
            </a:r>
            <a:r>
              <a:rPr lang="en-US" sz="1400" dirty="0" err="1">
                <a:solidFill>
                  <a:schemeClr val="bg1"/>
                </a:solidFill>
              </a:rPr>
              <a:t>prosesinin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problemidir</a:t>
            </a:r>
            <a:r>
              <a:rPr lang="en-US" sz="1400" dirty="0">
                <a:solidFill>
                  <a:schemeClr val="bg1"/>
                </a:solidFill>
              </a:rPr>
              <a:t>. </a:t>
            </a:r>
            <a:r>
              <a:rPr lang="en-US" sz="1400" b="1" dirty="0">
                <a:solidFill>
                  <a:schemeClr val="bg1"/>
                </a:solidFill>
              </a:rPr>
              <a:t>100% </a:t>
            </a:r>
            <a:r>
              <a:rPr lang="en-US" sz="1400" b="1" dirty="0" err="1">
                <a:solidFill>
                  <a:schemeClr val="bg1"/>
                </a:solidFill>
              </a:rPr>
              <a:t>önlənə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bilər</a:t>
            </a:r>
            <a:r>
              <a:rPr lang="en-US" sz="1400" b="1" dirty="0">
                <a:solidFill>
                  <a:schemeClr val="bg1"/>
                </a:solidFill>
              </a:rPr>
              <a:t>.</a:t>
            </a:r>
            <a:br>
              <a:rPr lang="en-US" sz="1400" dirty="0">
                <a:solidFill>
                  <a:schemeClr val="bg1"/>
                </a:solidFill>
              </a:rPr>
            </a:br>
            <a:br>
              <a:rPr lang="az-Latn-AZ" sz="1400" dirty="0">
                <a:solidFill>
                  <a:schemeClr val="bg1"/>
                </a:solidFill>
              </a:rPr>
            </a:br>
            <a:r>
              <a:rPr lang="en-US" sz="1400" b="1" dirty="0">
                <a:solidFill>
                  <a:schemeClr val="bg1"/>
                </a:solidFill>
              </a:rPr>
              <a:t>#3 </a:t>
            </a:r>
            <a:r>
              <a:rPr lang="en-US" sz="1400" b="1" dirty="0" err="1">
                <a:solidFill>
                  <a:schemeClr val="bg1"/>
                </a:solidFill>
              </a:rPr>
              <a:t>Səbəb</a:t>
            </a:r>
            <a:r>
              <a:rPr lang="en-US" sz="1400" b="1" dirty="0">
                <a:solidFill>
                  <a:schemeClr val="bg1"/>
                </a:solidFill>
              </a:rPr>
              <a:t>: Defective </a:t>
            </a:r>
            <a:r>
              <a:rPr lang="az-Latn-AZ" sz="1400" b="1" dirty="0">
                <a:solidFill>
                  <a:schemeClr val="bg1"/>
                </a:solidFill>
              </a:rPr>
              <a:t>-</a:t>
            </a:r>
            <a:r>
              <a:rPr lang="en-US" sz="1400" b="1" dirty="0">
                <a:solidFill>
                  <a:schemeClr val="bg1"/>
                </a:solidFill>
              </a:rPr>
              <a:t> 25% (256)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Məhsul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keyfiyyət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problemi</a:t>
            </a:r>
            <a:r>
              <a:rPr lang="en-US" sz="1400" dirty="0">
                <a:solidFill>
                  <a:schemeClr val="bg1"/>
                </a:solidFill>
              </a:rPr>
              <a:t>. 3 </a:t>
            </a:r>
            <a:r>
              <a:rPr lang="en-US" sz="1400" dirty="0" err="1">
                <a:solidFill>
                  <a:schemeClr val="bg1"/>
                </a:solidFill>
              </a:rPr>
              <a:t>səbəb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içində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ən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dirty="0" err="1">
                <a:solidFill>
                  <a:schemeClr val="bg1"/>
                </a:solidFill>
              </a:rPr>
              <a:t>aşağı</a:t>
            </a:r>
            <a:r>
              <a:rPr lang="en-US" sz="1400" dirty="0">
                <a:solidFill>
                  <a:schemeClr val="bg1"/>
                </a:solidFill>
              </a:rPr>
              <a:t> pay </a:t>
            </a:r>
            <a:r>
              <a:rPr lang="az-Latn-AZ" sz="1400" dirty="0">
                <a:solidFill>
                  <a:schemeClr val="bg1"/>
                </a:solidFill>
              </a:rPr>
              <a:t>- </a:t>
            </a:r>
            <a:r>
              <a:rPr lang="en-US" sz="1400" dirty="0" err="1">
                <a:solidFill>
                  <a:schemeClr val="bg1"/>
                </a:solidFill>
              </a:rPr>
              <a:t>yəni</a:t>
            </a:r>
            <a:r>
              <a:rPr lang="en-US" sz="1400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qaytarılmaların</a:t>
            </a:r>
            <a:r>
              <a:rPr lang="en-US" sz="1400" b="1" dirty="0">
                <a:solidFill>
                  <a:schemeClr val="bg1"/>
                </a:solidFill>
              </a:rPr>
              <a:t> 75%-</a:t>
            </a:r>
            <a:r>
              <a:rPr lang="en-US" sz="1400" b="1" dirty="0" err="1">
                <a:solidFill>
                  <a:schemeClr val="bg1"/>
                </a:solidFill>
              </a:rPr>
              <a:t>i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məhsul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keyfiyyəti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ilə</a:t>
            </a:r>
            <a:r>
              <a:rPr lang="en-US" sz="1400" b="1" dirty="0">
                <a:solidFill>
                  <a:schemeClr val="bg1"/>
                </a:solidFill>
              </a:rPr>
              <a:t> </a:t>
            </a:r>
            <a:r>
              <a:rPr lang="en-US" sz="1400" b="1" dirty="0" err="1">
                <a:solidFill>
                  <a:schemeClr val="bg1"/>
                </a:solidFill>
              </a:rPr>
              <a:t>əlaqəsizdir</a:t>
            </a:r>
            <a:r>
              <a:rPr lang="en-US" sz="1400" b="1" dirty="0">
                <a:solidFill>
                  <a:schemeClr val="bg1"/>
                </a:solidFill>
              </a:rPr>
              <a:t>.</a:t>
            </a:r>
            <a:br>
              <a:rPr lang="en-US" sz="1400" dirty="0">
                <a:solidFill>
                  <a:schemeClr val="bg1"/>
                </a:solidFill>
              </a:rPr>
            </a:b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1B4701B-39FE-43B8-86AA-D6B8789C220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9056" y="0"/>
            <a:ext cx="7552944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3" name="Rounded Rectangle 9">
            <a:extLst>
              <a:ext uri="{FF2B5EF4-FFF2-40B4-BE49-F238E27FC236}">
                <a16:creationId xmlns:a16="http://schemas.microsoft.com/office/drawing/2014/main" id="{E9A7EF13-49FA-4355-971A-34B065F35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23688" y="484632"/>
            <a:ext cx="6584098" cy="5739187"/>
          </a:xfrm>
          <a:prstGeom prst="roundRect">
            <a:avLst>
              <a:gd name="adj" fmla="val 0"/>
            </a:avLst>
          </a:prstGeom>
          <a:ln w="12700" cap="sq">
            <a:solidFill>
              <a:schemeClr val="bg1">
                <a:lumMod val="75000"/>
              </a:schemeClr>
            </a:solidFill>
            <a:miter lim="800000"/>
          </a:ln>
          <a:effectLst>
            <a:outerShdw blurRad="63500" dist="25400" dir="5400000" algn="tl" rotWithShape="0">
              <a:srgbClr val="000000">
                <a:alpha val="3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2CF3C3E-0F7B-4F0C-8EBD-BDD38E9C66F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42448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E908258-A4F3-24C9-1521-6C2D48AFE1D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99453653"/>
              </p:ext>
            </p:extLst>
          </p:nvPr>
        </p:nvGraphicFramePr>
        <p:xfrm>
          <a:off x="5608638" y="965200"/>
          <a:ext cx="5614987" cy="47736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Arrow: Left 4">
            <a:hlinkClick r:id="rId3" action="ppaction://hlinksldjump"/>
            <a:extLst>
              <a:ext uri="{FF2B5EF4-FFF2-40B4-BE49-F238E27FC236}">
                <a16:creationId xmlns:a16="http://schemas.microsoft.com/office/drawing/2014/main" id="{F7D24EFD-9C37-AAD1-6AA8-B52FEF784332}"/>
              </a:ext>
            </a:extLst>
          </p:cNvPr>
          <p:cNvSpPr/>
          <p:nvPr/>
        </p:nvSpPr>
        <p:spPr>
          <a:xfrm>
            <a:off x="6784" y="17599"/>
            <a:ext cx="2113936" cy="93406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b="1" dirty="0"/>
              <a:t>MÜNDƏRİCAT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34575676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5541CD5-D7AC-4686-8783-CF5D1D4FC2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6"/>
            <a:ext cx="12191695" cy="685800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6">
            <a:extLst>
              <a:ext uri="{FF2B5EF4-FFF2-40B4-BE49-F238E27FC236}">
                <a16:creationId xmlns:a16="http://schemas.microsoft.com/office/drawing/2014/main" id="{0420923D-0C6E-4656-9A01-EE9FB6345E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719939" y="3787058"/>
            <a:ext cx="3472060" cy="825932"/>
          </a:xfrm>
          <a:custGeom>
            <a:avLst/>
            <a:gdLst>
              <a:gd name="connsiteX0" fmla="*/ 3470310 w 3472060"/>
              <a:gd name="connsiteY0" fmla="*/ 0 h 825932"/>
              <a:gd name="connsiteX1" fmla="*/ 3472060 w 3472060"/>
              <a:gd name="connsiteY1" fmla="*/ 12850 h 825932"/>
              <a:gd name="connsiteX2" fmla="*/ 3472060 w 3472060"/>
              <a:gd name="connsiteY2" fmla="*/ 480529 h 825932"/>
              <a:gd name="connsiteX3" fmla="*/ 3363699 w 3472060"/>
              <a:gd name="connsiteY3" fmla="*/ 498471 h 825932"/>
              <a:gd name="connsiteX4" fmla="*/ 42060 w 3472060"/>
              <a:gd name="connsiteY4" fmla="*/ 824486 h 825932"/>
              <a:gd name="connsiteX5" fmla="*/ 0 w 3472060"/>
              <a:gd name="connsiteY5" fmla="*/ 758452 h 825932"/>
              <a:gd name="connsiteX6" fmla="*/ 188014 w 3472060"/>
              <a:gd name="connsiteY6" fmla="*/ 735602 h 825932"/>
              <a:gd name="connsiteX7" fmla="*/ 284087 w 3472060"/>
              <a:gd name="connsiteY7" fmla="*/ 722590 h 825932"/>
              <a:gd name="connsiteX8" fmla="*/ 382288 w 3472060"/>
              <a:gd name="connsiteY8" fmla="*/ 709392 h 825932"/>
              <a:gd name="connsiteX9" fmla="*/ 481858 w 3472060"/>
              <a:gd name="connsiteY9" fmla="*/ 695774 h 825932"/>
              <a:gd name="connsiteX10" fmla="*/ 581897 w 3472060"/>
              <a:gd name="connsiteY10" fmla="*/ 680711 h 825932"/>
              <a:gd name="connsiteX11" fmla="*/ 683670 w 3472060"/>
              <a:gd name="connsiteY11" fmla="*/ 665256 h 825932"/>
              <a:gd name="connsiteX12" fmla="*/ 787206 w 3472060"/>
              <a:gd name="connsiteY12" fmla="*/ 649587 h 825932"/>
              <a:gd name="connsiteX13" fmla="*/ 892019 w 3472060"/>
              <a:gd name="connsiteY13" fmla="*/ 632968 h 825932"/>
              <a:gd name="connsiteX14" fmla="*/ 997620 w 3472060"/>
              <a:gd name="connsiteY14" fmla="*/ 614667 h 825932"/>
              <a:gd name="connsiteX15" fmla="*/ 1104727 w 3472060"/>
              <a:gd name="connsiteY15" fmla="*/ 596741 h 825932"/>
              <a:gd name="connsiteX16" fmla="*/ 1212669 w 3472060"/>
              <a:gd name="connsiteY16" fmla="*/ 577397 h 825932"/>
              <a:gd name="connsiteX17" fmla="*/ 1321506 w 3472060"/>
              <a:gd name="connsiteY17" fmla="*/ 556988 h 825932"/>
              <a:gd name="connsiteX18" fmla="*/ 1430709 w 3472060"/>
              <a:gd name="connsiteY18" fmla="*/ 536607 h 825932"/>
              <a:gd name="connsiteX19" fmla="*/ 1541050 w 3472060"/>
              <a:gd name="connsiteY19" fmla="*/ 514481 h 825932"/>
              <a:gd name="connsiteX20" fmla="*/ 1652805 w 3472060"/>
              <a:gd name="connsiteY20" fmla="*/ 492202 h 825932"/>
              <a:gd name="connsiteX21" fmla="*/ 1763708 w 3472060"/>
              <a:gd name="connsiteY21" fmla="*/ 469161 h 825932"/>
              <a:gd name="connsiteX22" fmla="*/ 1875795 w 3472060"/>
              <a:gd name="connsiteY22" fmla="*/ 444641 h 825932"/>
              <a:gd name="connsiteX23" fmla="*/ 1989128 w 3472060"/>
              <a:gd name="connsiteY23" fmla="*/ 418995 h 825932"/>
              <a:gd name="connsiteX24" fmla="*/ 2102476 w 3472060"/>
              <a:gd name="connsiteY24" fmla="*/ 393438 h 825932"/>
              <a:gd name="connsiteX25" fmla="*/ 2215549 w 3472060"/>
              <a:gd name="connsiteY25" fmla="*/ 366291 h 825932"/>
              <a:gd name="connsiteX26" fmla="*/ 2330490 w 3472060"/>
              <a:gd name="connsiteY26" fmla="*/ 337455 h 825932"/>
              <a:gd name="connsiteX27" fmla="*/ 2443333 w 3472060"/>
              <a:gd name="connsiteY27" fmla="*/ 308983 h 825932"/>
              <a:gd name="connsiteX28" fmla="*/ 2558014 w 3472060"/>
              <a:gd name="connsiteY28" fmla="*/ 278646 h 825932"/>
              <a:gd name="connsiteX29" fmla="*/ 2673621 w 3472060"/>
              <a:gd name="connsiteY29" fmla="*/ 247421 h 825932"/>
              <a:gd name="connsiteX30" fmla="*/ 2787008 w 3472060"/>
              <a:gd name="connsiteY30" fmla="*/ 215853 h 825932"/>
              <a:gd name="connsiteX31" fmla="*/ 2901442 w 3472060"/>
              <a:gd name="connsiteY31" fmla="*/ 182011 h 825932"/>
              <a:gd name="connsiteX32" fmla="*/ 3015722 w 3472060"/>
              <a:gd name="connsiteY32" fmla="*/ 147286 h 825932"/>
              <a:gd name="connsiteX33" fmla="*/ 3130018 w 3472060"/>
              <a:gd name="connsiteY33" fmla="*/ 112649 h 825932"/>
              <a:gd name="connsiteX34" fmla="*/ 3243551 w 3472060"/>
              <a:gd name="connsiteY34" fmla="*/ 75688 h 825932"/>
              <a:gd name="connsiteX35" fmla="*/ 3356992 w 3472060"/>
              <a:gd name="connsiteY35" fmla="*/ 38197 h 825932"/>
              <a:gd name="connsiteX36" fmla="*/ 3470310 w 3472060"/>
              <a:gd name="connsiteY36" fmla="*/ 0 h 8259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3472060" h="825932">
                <a:moveTo>
                  <a:pt x="3470310" y="0"/>
                </a:moveTo>
                <a:lnTo>
                  <a:pt x="3472060" y="12850"/>
                </a:lnTo>
                <a:lnTo>
                  <a:pt x="3472060" y="480529"/>
                </a:lnTo>
                <a:lnTo>
                  <a:pt x="3363699" y="498471"/>
                </a:lnTo>
                <a:cubicBezTo>
                  <a:pt x="2435623" y="645518"/>
                  <a:pt x="603076" y="844866"/>
                  <a:pt x="42060" y="824486"/>
                </a:cubicBezTo>
                <a:cubicBezTo>
                  <a:pt x="28151" y="802425"/>
                  <a:pt x="13909" y="780513"/>
                  <a:pt x="0" y="758452"/>
                </a:cubicBezTo>
                <a:lnTo>
                  <a:pt x="188014" y="735602"/>
                </a:lnTo>
                <a:lnTo>
                  <a:pt x="284087" y="722590"/>
                </a:lnTo>
                <a:lnTo>
                  <a:pt x="382288" y="709392"/>
                </a:lnTo>
                <a:lnTo>
                  <a:pt x="481858" y="695774"/>
                </a:lnTo>
                <a:lnTo>
                  <a:pt x="581897" y="680711"/>
                </a:lnTo>
                <a:lnTo>
                  <a:pt x="683670" y="665256"/>
                </a:lnTo>
                <a:lnTo>
                  <a:pt x="787206" y="649587"/>
                </a:lnTo>
                <a:lnTo>
                  <a:pt x="892019" y="632968"/>
                </a:lnTo>
                <a:lnTo>
                  <a:pt x="997620" y="614667"/>
                </a:lnTo>
                <a:lnTo>
                  <a:pt x="1104727" y="596741"/>
                </a:lnTo>
                <a:lnTo>
                  <a:pt x="1212669" y="577397"/>
                </a:lnTo>
                <a:lnTo>
                  <a:pt x="1321506" y="556988"/>
                </a:lnTo>
                <a:lnTo>
                  <a:pt x="1430709" y="536607"/>
                </a:lnTo>
                <a:lnTo>
                  <a:pt x="1541050" y="514481"/>
                </a:lnTo>
                <a:lnTo>
                  <a:pt x="1652805" y="492202"/>
                </a:lnTo>
                <a:lnTo>
                  <a:pt x="1763708" y="469161"/>
                </a:lnTo>
                <a:lnTo>
                  <a:pt x="1875795" y="444641"/>
                </a:lnTo>
                <a:lnTo>
                  <a:pt x="1989128" y="418995"/>
                </a:lnTo>
                <a:lnTo>
                  <a:pt x="2102476" y="393438"/>
                </a:lnTo>
                <a:lnTo>
                  <a:pt x="2215549" y="366291"/>
                </a:lnTo>
                <a:lnTo>
                  <a:pt x="2330490" y="337455"/>
                </a:lnTo>
                <a:lnTo>
                  <a:pt x="2443333" y="308983"/>
                </a:lnTo>
                <a:lnTo>
                  <a:pt x="2558014" y="278646"/>
                </a:lnTo>
                <a:lnTo>
                  <a:pt x="2673621" y="247421"/>
                </a:lnTo>
                <a:lnTo>
                  <a:pt x="2787008" y="215853"/>
                </a:lnTo>
                <a:lnTo>
                  <a:pt x="2901442" y="182011"/>
                </a:lnTo>
                <a:lnTo>
                  <a:pt x="3015722" y="147286"/>
                </a:lnTo>
                <a:lnTo>
                  <a:pt x="3130018" y="112649"/>
                </a:lnTo>
                <a:lnTo>
                  <a:pt x="3243551" y="75688"/>
                </a:lnTo>
                <a:lnTo>
                  <a:pt x="3356992" y="38197"/>
                </a:lnTo>
                <a:lnTo>
                  <a:pt x="3470310" y="0"/>
                </a:lnTo>
                <a:close/>
              </a:path>
            </a:pathLst>
          </a:custGeom>
          <a:solidFill>
            <a:schemeClr val="tx2">
              <a:alpha val="2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3" name="Freeform 5">
            <a:extLst>
              <a:ext uri="{FF2B5EF4-FFF2-40B4-BE49-F238E27FC236}">
                <a16:creationId xmlns:a16="http://schemas.microsoft.com/office/drawing/2014/main" id="{904D0A95-DEAA-4B8D-A340-BEC3A5DBCD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305" y="4065581"/>
            <a:ext cx="12191695" cy="2802467"/>
          </a:xfrm>
          <a:custGeom>
            <a:avLst/>
            <a:gdLst/>
            <a:ahLst/>
            <a:cxnLst/>
            <a:rect l="l" t="t" r="r" b="b"/>
            <a:pathLst>
              <a:path w="10000" h="8000">
                <a:moveTo>
                  <a:pt x="0" y="0"/>
                </a:moveTo>
                <a:lnTo>
                  <a:pt x="0" y="7970"/>
                </a:lnTo>
                <a:lnTo>
                  <a:pt x="10000" y="8000"/>
                </a:lnTo>
                <a:lnTo>
                  <a:pt x="10000" y="7"/>
                </a:lnTo>
                <a:lnTo>
                  <a:pt x="10000" y="7"/>
                </a:lnTo>
                <a:lnTo>
                  <a:pt x="9773" y="156"/>
                </a:lnTo>
                <a:lnTo>
                  <a:pt x="9547" y="298"/>
                </a:lnTo>
                <a:lnTo>
                  <a:pt x="9320" y="437"/>
                </a:lnTo>
                <a:lnTo>
                  <a:pt x="9092" y="556"/>
                </a:lnTo>
                <a:lnTo>
                  <a:pt x="8865" y="676"/>
                </a:lnTo>
                <a:lnTo>
                  <a:pt x="8637" y="788"/>
                </a:lnTo>
                <a:lnTo>
                  <a:pt x="8412" y="884"/>
                </a:lnTo>
                <a:lnTo>
                  <a:pt x="8184" y="975"/>
                </a:lnTo>
                <a:lnTo>
                  <a:pt x="7957" y="1058"/>
                </a:lnTo>
                <a:lnTo>
                  <a:pt x="7734" y="1130"/>
                </a:lnTo>
                <a:lnTo>
                  <a:pt x="7508" y="1202"/>
                </a:lnTo>
                <a:lnTo>
                  <a:pt x="7285" y="1262"/>
                </a:lnTo>
                <a:lnTo>
                  <a:pt x="7062" y="1309"/>
                </a:lnTo>
                <a:lnTo>
                  <a:pt x="6840" y="1358"/>
                </a:lnTo>
                <a:lnTo>
                  <a:pt x="6620" y="1399"/>
                </a:lnTo>
                <a:lnTo>
                  <a:pt x="6402" y="1428"/>
                </a:lnTo>
                <a:lnTo>
                  <a:pt x="6184" y="1453"/>
                </a:lnTo>
                <a:lnTo>
                  <a:pt x="5968" y="1477"/>
                </a:lnTo>
                <a:lnTo>
                  <a:pt x="5755" y="1488"/>
                </a:lnTo>
                <a:lnTo>
                  <a:pt x="5542" y="1500"/>
                </a:lnTo>
                <a:lnTo>
                  <a:pt x="5332" y="1506"/>
                </a:lnTo>
                <a:lnTo>
                  <a:pt x="5124" y="1500"/>
                </a:lnTo>
                <a:lnTo>
                  <a:pt x="4918" y="1500"/>
                </a:lnTo>
                <a:lnTo>
                  <a:pt x="4714" y="1488"/>
                </a:lnTo>
                <a:lnTo>
                  <a:pt x="4514" y="1470"/>
                </a:lnTo>
                <a:lnTo>
                  <a:pt x="4316" y="1453"/>
                </a:lnTo>
                <a:lnTo>
                  <a:pt x="4122" y="1434"/>
                </a:lnTo>
                <a:lnTo>
                  <a:pt x="3929" y="1405"/>
                </a:lnTo>
                <a:lnTo>
                  <a:pt x="3739" y="1374"/>
                </a:lnTo>
                <a:lnTo>
                  <a:pt x="3553" y="1346"/>
                </a:lnTo>
                <a:lnTo>
                  <a:pt x="3190" y="1267"/>
                </a:lnTo>
                <a:lnTo>
                  <a:pt x="2842" y="1183"/>
                </a:lnTo>
                <a:lnTo>
                  <a:pt x="2508" y="1095"/>
                </a:lnTo>
                <a:lnTo>
                  <a:pt x="2192" y="998"/>
                </a:lnTo>
                <a:lnTo>
                  <a:pt x="1890" y="897"/>
                </a:lnTo>
                <a:lnTo>
                  <a:pt x="1610" y="788"/>
                </a:lnTo>
                <a:lnTo>
                  <a:pt x="1347" y="681"/>
                </a:lnTo>
                <a:lnTo>
                  <a:pt x="1105" y="574"/>
                </a:lnTo>
                <a:lnTo>
                  <a:pt x="883" y="473"/>
                </a:lnTo>
                <a:lnTo>
                  <a:pt x="686" y="377"/>
                </a:lnTo>
                <a:lnTo>
                  <a:pt x="508" y="286"/>
                </a:lnTo>
                <a:lnTo>
                  <a:pt x="358" y="210"/>
                </a:lnTo>
                <a:lnTo>
                  <a:pt x="232" y="138"/>
                </a:lnTo>
                <a:lnTo>
                  <a:pt x="59" y="35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  <a:ln>
            <a:noFill/>
          </a:ln>
        </p:spPr>
        <p:style>
          <a:lnRef idx="0">
            <a:scrgbClr r="0" g="0" b="0"/>
          </a:lnRef>
          <a:fillRef idx="1003">
            <a:schemeClr val="dk2"/>
          </a:fillRef>
          <a:effectRef idx="0">
            <a:scrgbClr r="0" g="0" b="0"/>
          </a:effectRef>
          <a:fontRef idx="major"/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353E87-88AE-CCAE-92ED-9B370CBB6F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9181" y="4701883"/>
            <a:ext cx="10968294" cy="2061553"/>
          </a:xfrm>
        </p:spPr>
        <p:txBody>
          <a:bodyPr>
            <a:norm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Bu 5 </a:t>
            </a:r>
            <a:r>
              <a:rPr lang="en-US" sz="1600" dirty="0" err="1">
                <a:solidFill>
                  <a:schemeClr val="bg1"/>
                </a:solidFill>
              </a:rPr>
              <a:t>məhsul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ümumi</a:t>
            </a:r>
            <a:r>
              <a:rPr lang="en-US" sz="1600" dirty="0">
                <a:solidFill>
                  <a:schemeClr val="bg1"/>
                </a:solidFill>
              </a:rPr>
              <a:t> 1,015 </a:t>
            </a:r>
            <a:r>
              <a:rPr lang="en-US" sz="1600" dirty="0" err="1">
                <a:solidFill>
                  <a:schemeClr val="bg1"/>
                </a:solidFill>
              </a:rPr>
              <a:t>qaytarılmanın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124-ünü</a:t>
            </a:r>
            <a:r>
              <a:rPr lang="en-US" sz="1600" dirty="0">
                <a:solidFill>
                  <a:schemeClr val="bg1"/>
                </a:solidFill>
              </a:rPr>
              <a:t> (12.2%) </a:t>
            </a:r>
            <a:r>
              <a:rPr lang="en-US" sz="1600" dirty="0" err="1">
                <a:solidFill>
                  <a:schemeClr val="bg1"/>
                </a:solidFill>
              </a:rPr>
              <a:t>təşkil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edir</a:t>
            </a:r>
            <a:r>
              <a:rPr lang="en-US" sz="1600" dirty="0">
                <a:solidFill>
                  <a:schemeClr val="bg1"/>
                </a:solidFill>
              </a:rPr>
              <a:t>. </a:t>
            </a:r>
            <a:r>
              <a:rPr lang="en-US" sz="1600" dirty="0" err="1">
                <a:solidFill>
                  <a:schemeClr val="bg1"/>
                </a:solidFill>
              </a:rPr>
              <a:t>Yalnız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bu</a:t>
            </a:r>
            <a:r>
              <a:rPr lang="en-US" sz="1600" dirty="0">
                <a:solidFill>
                  <a:schemeClr val="bg1"/>
                </a:solidFill>
              </a:rPr>
              <a:t> 5 </a:t>
            </a:r>
            <a:r>
              <a:rPr lang="en-US" sz="1600" dirty="0" err="1">
                <a:solidFill>
                  <a:schemeClr val="bg1"/>
                </a:solidFill>
              </a:rPr>
              <a:t>məhsulu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düzəltmək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bütün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sistemin</a:t>
            </a:r>
            <a:r>
              <a:rPr lang="en-US" sz="1600" dirty="0">
                <a:solidFill>
                  <a:schemeClr val="bg1"/>
                </a:solidFill>
              </a:rPr>
              <a:t> return rate-</a:t>
            </a:r>
            <a:r>
              <a:rPr lang="en-US" sz="1600" dirty="0" err="1">
                <a:solidFill>
                  <a:schemeClr val="bg1"/>
                </a:solidFill>
              </a:rPr>
              <a:t>ini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aşağı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çəkər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br>
              <a:rPr lang="az-Latn-AZ" sz="1600" dirty="0">
                <a:solidFill>
                  <a:schemeClr val="bg1"/>
                </a:solidFill>
              </a:rPr>
            </a:br>
            <a:br>
              <a:rPr lang="az-Latn-AZ" sz="1600" dirty="0">
                <a:solidFill>
                  <a:schemeClr val="bg1"/>
                </a:solidFill>
              </a:rPr>
            </a:br>
            <a:r>
              <a:rPr lang="en-US" sz="1600" b="1" dirty="0">
                <a:solidFill>
                  <a:schemeClr val="bg1"/>
                </a:solidFill>
              </a:rPr>
              <a:t>Product 82 — 58%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Satılan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hər</a:t>
            </a:r>
            <a:r>
              <a:rPr lang="en-US" sz="1600" dirty="0">
                <a:solidFill>
                  <a:schemeClr val="bg1"/>
                </a:solidFill>
              </a:rPr>
              <a:t> 2 </a:t>
            </a:r>
            <a:r>
              <a:rPr lang="en-US" sz="1600" dirty="0" err="1">
                <a:solidFill>
                  <a:schemeClr val="bg1"/>
                </a:solidFill>
              </a:rPr>
              <a:t>məhsuldan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biri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qaytarılır</a:t>
            </a:r>
            <a:r>
              <a:rPr lang="en-US" sz="1600" dirty="0">
                <a:solidFill>
                  <a:schemeClr val="bg1"/>
                </a:solidFill>
              </a:rPr>
              <a:t>. </a:t>
            </a:r>
            <a:r>
              <a:rPr lang="en-US" sz="1600" dirty="0" err="1">
                <a:solidFill>
                  <a:schemeClr val="bg1"/>
                </a:solidFill>
              </a:rPr>
              <a:t>Kateqoriya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ortası</a:t>
            </a:r>
            <a:r>
              <a:rPr lang="en-US" sz="1600" dirty="0">
                <a:solidFill>
                  <a:schemeClr val="bg1"/>
                </a:solidFill>
              </a:rPr>
              <a:t> 21% — Product 82 </a:t>
            </a:r>
            <a:r>
              <a:rPr lang="en-US" sz="1600" dirty="0" err="1">
                <a:solidFill>
                  <a:schemeClr val="bg1"/>
                </a:solidFill>
              </a:rPr>
              <a:t>bundan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b="1" dirty="0">
                <a:solidFill>
                  <a:schemeClr val="bg1"/>
                </a:solidFill>
              </a:rPr>
              <a:t>+37 </a:t>
            </a:r>
            <a:r>
              <a:rPr lang="en-US" sz="1600" b="1" dirty="0" err="1">
                <a:solidFill>
                  <a:schemeClr val="bg1"/>
                </a:solidFill>
              </a:rPr>
              <a:t>faiz</a:t>
            </a:r>
            <a:r>
              <a:rPr lang="en-US" sz="1600" b="1" dirty="0">
                <a:solidFill>
                  <a:schemeClr val="bg1"/>
                </a:solidFill>
              </a:rPr>
              <a:t> </a:t>
            </a:r>
            <a:r>
              <a:rPr lang="en-US" sz="1600" b="1" dirty="0" err="1">
                <a:solidFill>
                  <a:schemeClr val="bg1"/>
                </a:solidFill>
              </a:rPr>
              <a:t>bəndi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yüksəkdir</a:t>
            </a:r>
            <a:r>
              <a:rPr lang="en-US" sz="1600" dirty="0">
                <a:solidFill>
                  <a:schemeClr val="bg1"/>
                </a:solidFill>
              </a:rPr>
              <a:t>. Bu </a:t>
            </a:r>
            <a:r>
              <a:rPr lang="en-US" sz="1600" dirty="0" err="1">
                <a:solidFill>
                  <a:schemeClr val="bg1"/>
                </a:solidFill>
              </a:rPr>
              <a:t>məhsul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dərhal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araşdırılmalı</a:t>
            </a:r>
            <a:r>
              <a:rPr lang="en-US" sz="1600" dirty="0">
                <a:solidFill>
                  <a:schemeClr val="bg1"/>
                </a:solidFill>
              </a:rPr>
              <a:t>, </a:t>
            </a:r>
            <a:r>
              <a:rPr lang="en-US" sz="1600" dirty="0" err="1">
                <a:solidFill>
                  <a:schemeClr val="bg1"/>
                </a:solidFill>
              </a:rPr>
              <a:t>mümkünsə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assortimentdən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çıxarılmalıdır</a:t>
            </a:r>
            <a:r>
              <a:rPr lang="en-US" sz="1600" dirty="0">
                <a:solidFill>
                  <a:schemeClr val="bg1"/>
                </a:solidFill>
              </a:rPr>
              <a:t>.</a:t>
            </a:r>
            <a:br>
              <a:rPr lang="az-Latn-AZ" sz="1600" dirty="0">
                <a:solidFill>
                  <a:schemeClr val="bg1"/>
                </a:solidFill>
              </a:rPr>
            </a:br>
            <a:br>
              <a:rPr lang="az-Latn-AZ" sz="1600" dirty="0">
                <a:solidFill>
                  <a:schemeClr val="bg1"/>
                </a:solidFill>
              </a:rPr>
            </a:br>
            <a:r>
              <a:rPr lang="en-US" sz="1600" dirty="0" err="1">
                <a:solidFill>
                  <a:schemeClr val="bg1"/>
                </a:solidFill>
              </a:rPr>
              <a:t>Bütün</a:t>
            </a:r>
            <a:r>
              <a:rPr lang="en-US" sz="1600" dirty="0">
                <a:solidFill>
                  <a:schemeClr val="bg1"/>
                </a:solidFill>
              </a:rPr>
              <a:t> 5 </a:t>
            </a:r>
            <a:r>
              <a:rPr lang="en-US" sz="1600" dirty="0" err="1">
                <a:solidFill>
                  <a:schemeClr val="bg1"/>
                </a:solidFill>
              </a:rPr>
              <a:t>məhsul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öz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kateqoriya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ortasından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kəskin</a:t>
            </a:r>
            <a:r>
              <a:rPr lang="en-US" sz="1600" dirty="0">
                <a:solidFill>
                  <a:schemeClr val="bg1"/>
                </a:solidFill>
              </a:rPr>
              <a:t> </a:t>
            </a:r>
            <a:r>
              <a:rPr lang="en-US" sz="1600" dirty="0" err="1">
                <a:solidFill>
                  <a:schemeClr val="bg1"/>
                </a:solidFill>
              </a:rPr>
              <a:t>yüksəkdir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068284D5-4E12-9B6E-3CB1-91AFF0753533}"/>
              </a:ext>
            </a:extLst>
          </p:cNvPr>
          <p:cNvSpPr/>
          <p:nvPr/>
        </p:nvSpPr>
        <p:spPr>
          <a:xfrm>
            <a:off x="265471" y="167148"/>
            <a:ext cx="11484077" cy="3972233"/>
          </a:xfrm>
          <a:prstGeom prst="roundRect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CB9E79A1-E7DB-BF0A-13E0-7C124FA41E3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83377935"/>
              </p:ext>
            </p:extLst>
          </p:nvPr>
        </p:nvGraphicFramePr>
        <p:xfrm>
          <a:off x="646113" y="593387"/>
          <a:ext cx="10901362" cy="33833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Arrow: Left 5">
            <a:hlinkClick r:id="rId3" action="ppaction://hlinksldjump"/>
            <a:extLst>
              <a:ext uri="{FF2B5EF4-FFF2-40B4-BE49-F238E27FC236}">
                <a16:creationId xmlns:a16="http://schemas.microsoft.com/office/drawing/2014/main" id="{76B08DA6-E9D9-447C-F8B0-653D896689C9}"/>
              </a:ext>
            </a:extLst>
          </p:cNvPr>
          <p:cNvSpPr/>
          <p:nvPr/>
        </p:nvSpPr>
        <p:spPr>
          <a:xfrm>
            <a:off x="10091995" y="0"/>
            <a:ext cx="2113936" cy="577683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b="1" dirty="0"/>
              <a:t>MÜNDƏRİCAT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72551060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108000"/>
                <a:satMod val="164000"/>
                <a:lumMod val="74000"/>
              </a:schemeClr>
              <a:schemeClr val="bg2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66F41A-BE55-B5A9-1450-D4508B167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4" y="1072477"/>
            <a:ext cx="4573506" cy="5785523"/>
          </a:xfrm>
        </p:spPr>
        <p:txBody>
          <a:bodyPr>
            <a:normAutofit fontScale="90000"/>
          </a:bodyPr>
          <a:lstStyle/>
          <a:p>
            <a:r>
              <a:rPr lang="en-US" sz="1600" b="1" dirty="0" err="1"/>
              <a:t>Gəlir</a:t>
            </a:r>
            <a:r>
              <a:rPr lang="en-US" sz="1600" b="1" dirty="0"/>
              <a:t> </a:t>
            </a:r>
            <a:r>
              <a:rPr lang="en-US" sz="1600" b="1" dirty="0" err="1"/>
              <a:t>lideri</a:t>
            </a:r>
            <a:r>
              <a:rPr lang="en-US" sz="1600" b="1" dirty="0"/>
              <a:t>: ORTA YASLI (31–50)</a:t>
            </a:r>
            <a:r>
              <a:rPr lang="en-US" sz="1600" dirty="0"/>
              <a:t> </a:t>
            </a:r>
            <a:r>
              <a:rPr lang="en-US" sz="1600" dirty="0" err="1"/>
              <a:t>Ən</a:t>
            </a:r>
            <a:r>
              <a:rPr lang="en-US" sz="1600" dirty="0"/>
              <a:t> </a:t>
            </a:r>
            <a:r>
              <a:rPr lang="en-US" sz="1600" dirty="0" err="1"/>
              <a:t>çox</a:t>
            </a:r>
            <a:r>
              <a:rPr lang="en-US" sz="1600" dirty="0"/>
              <a:t> </a:t>
            </a:r>
            <a:r>
              <a:rPr lang="en-US" sz="1600" dirty="0" err="1"/>
              <a:t>müştəri</a:t>
            </a:r>
            <a:r>
              <a:rPr lang="en-US" sz="1600" dirty="0"/>
              <a:t> (64), </a:t>
            </a:r>
            <a:r>
              <a:rPr lang="en-US" sz="1600" dirty="0" err="1"/>
              <a:t>ən</a:t>
            </a:r>
            <a:r>
              <a:rPr lang="en-US" sz="1600" dirty="0"/>
              <a:t> </a:t>
            </a:r>
            <a:r>
              <a:rPr lang="en-US" sz="1600" dirty="0" err="1"/>
              <a:t>yüksək</a:t>
            </a:r>
            <a:r>
              <a:rPr lang="en-US" sz="1600" dirty="0"/>
              <a:t> </a:t>
            </a:r>
            <a:r>
              <a:rPr lang="en-US" sz="1600" dirty="0" err="1"/>
              <a:t>satış</a:t>
            </a:r>
            <a:r>
              <a:rPr lang="en-US" sz="1600" dirty="0"/>
              <a:t> ($928,407). Lakin </a:t>
            </a:r>
            <a:r>
              <a:rPr lang="en-US" sz="1600" b="1" dirty="0"/>
              <a:t>22% </a:t>
            </a:r>
            <a:r>
              <a:rPr lang="en-US" sz="1600" b="1" dirty="0" err="1"/>
              <a:t>qaytarılma</a:t>
            </a:r>
            <a:r>
              <a:rPr lang="en-US" sz="1600" dirty="0"/>
              <a:t> — </a:t>
            </a:r>
            <a:r>
              <a:rPr lang="en-US" sz="1600" dirty="0" err="1"/>
              <a:t>bu</a:t>
            </a:r>
            <a:r>
              <a:rPr lang="en-US" sz="1600" dirty="0"/>
              <a:t> </a:t>
            </a:r>
            <a:r>
              <a:rPr lang="en-US" sz="1600" dirty="0" err="1"/>
              <a:t>seqmentin</a:t>
            </a:r>
            <a:r>
              <a:rPr lang="en-US" sz="1600" dirty="0"/>
              <a:t> </a:t>
            </a:r>
            <a:r>
              <a:rPr lang="en-US" sz="1600" dirty="0" err="1"/>
              <a:t>gəlirini</a:t>
            </a:r>
            <a:r>
              <a:rPr lang="en-US" sz="1600" dirty="0"/>
              <a:t> </a:t>
            </a:r>
            <a:r>
              <a:rPr lang="en-US" sz="1600" dirty="0" err="1"/>
              <a:t>eroziyaya</a:t>
            </a:r>
            <a:r>
              <a:rPr lang="en-US" sz="1600" dirty="0"/>
              <a:t> </a:t>
            </a:r>
            <a:r>
              <a:rPr lang="en-US" sz="1600" dirty="0" err="1"/>
              <a:t>uğradır</a:t>
            </a:r>
            <a:r>
              <a:rPr lang="en-US" sz="1600" dirty="0"/>
              <a:t>. </a:t>
            </a:r>
            <a:r>
              <a:rPr lang="en-US" sz="1600" dirty="0" err="1"/>
              <a:t>Prioritet</a:t>
            </a:r>
            <a:r>
              <a:rPr lang="en-US" sz="1600" dirty="0"/>
              <a:t>: </a:t>
            </a:r>
            <a:r>
              <a:rPr lang="en-US" sz="1600" dirty="0" err="1"/>
              <a:t>qaytarılmanı</a:t>
            </a:r>
            <a:r>
              <a:rPr lang="en-US" sz="1600" dirty="0"/>
              <a:t> </a:t>
            </a:r>
            <a:r>
              <a:rPr lang="en-US" sz="1600" dirty="0" err="1"/>
              <a:t>azalt</a:t>
            </a:r>
            <a:r>
              <a:rPr lang="en-US" sz="1600" dirty="0"/>
              <a:t>.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1" dirty="0" err="1"/>
              <a:t>Ən</a:t>
            </a:r>
            <a:r>
              <a:rPr lang="en-US" sz="1600" b="1" dirty="0"/>
              <a:t> </a:t>
            </a:r>
            <a:r>
              <a:rPr lang="en-US" sz="1600" b="1" dirty="0" err="1"/>
              <a:t>sərfəli</a:t>
            </a:r>
            <a:r>
              <a:rPr lang="en-US" sz="1600" b="1" dirty="0"/>
              <a:t> </a:t>
            </a:r>
            <a:r>
              <a:rPr lang="en-US" sz="1600" b="1" dirty="0" err="1"/>
              <a:t>seqment</a:t>
            </a:r>
            <a:r>
              <a:rPr lang="en-US" sz="1600" b="1" dirty="0"/>
              <a:t>: QOCA (51–70)</a:t>
            </a:r>
            <a:r>
              <a:rPr lang="en-US" sz="1600" dirty="0"/>
              <a:t> </a:t>
            </a:r>
            <a:r>
              <a:rPr lang="en-US" sz="1600" dirty="0" err="1"/>
              <a:t>Ən</a:t>
            </a:r>
            <a:r>
              <a:rPr lang="en-US" sz="1600" dirty="0"/>
              <a:t> </a:t>
            </a:r>
            <a:r>
              <a:rPr lang="en-US" sz="1600" dirty="0" err="1"/>
              <a:t>yüksək</a:t>
            </a:r>
            <a:r>
              <a:rPr lang="en-US" sz="1600" dirty="0"/>
              <a:t> </a:t>
            </a:r>
            <a:r>
              <a:rPr lang="en-US" sz="1600" dirty="0" err="1"/>
              <a:t>mənfəət</a:t>
            </a:r>
            <a:r>
              <a:rPr lang="en-US" sz="1600" dirty="0"/>
              <a:t> </a:t>
            </a:r>
            <a:r>
              <a:rPr lang="en-US" sz="1600" dirty="0" err="1"/>
              <a:t>marjası</a:t>
            </a:r>
            <a:r>
              <a:rPr lang="en-US" sz="1600" dirty="0"/>
              <a:t> — </a:t>
            </a:r>
            <a:r>
              <a:rPr lang="en-US" sz="1600" b="1" dirty="0"/>
              <a:t>23%</a:t>
            </a:r>
            <a:r>
              <a:rPr lang="en-US" sz="1600" dirty="0"/>
              <a:t>. </a:t>
            </a:r>
            <a:r>
              <a:rPr lang="en-US" sz="1600" dirty="0" err="1"/>
              <a:t>Ən</a:t>
            </a:r>
            <a:r>
              <a:rPr lang="en-US" sz="1600" dirty="0"/>
              <a:t> </a:t>
            </a:r>
            <a:r>
              <a:rPr lang="en-US" sz="1600" dirty="0" err="1"/>
              <a:t>yüksək</a:t>
            </a:r>
            <a:r>
              <a:rPr lang="en-US" sz="1600" dirty="0"/>
              <a:t> </a:t>
            </a:r>
            <a:r>
              <a:rPr lang="en-US" sz="1600" dirty="0" err="1"/>
              <a:t>orta</a:t>
            </a:r>
            <a:r>
              <a:rPr lang="en-US" sz="1600" dirty="0"/>
              <a:t> </a:t>
            </a:r>
            <a:r>
              <a:rPr lang="en-US" sz="1600" dirty="0" err="1"/>
              <a:t>sifariş</a:t>
            </a:r>
            <a:r>
              <a:rPr lang="en-US" sz="1600" dirty="0"/>
              <a:t> </a:t>
            </a:r>
            <a:r>
              <a:rPr lang="en-US" sz="1600" dirty="0" err="1"/>
              <a:t>dəyəri</a:t>
            </a:r>
            <a:r>
              <a:rPr lang="en-US" sz="1600" dirty="0"/>
              <a:t> — </a:t>
            </a:r>
            <a:r>
              <a:rPr lang="en-US" sz="1600" b="1" dirty="0"/>
              <a:t>$2,431</a:t>
            </a:r>
            <a:r>
              <a:rPr lang="en-US" sz="1600" dirty="0"/>
              <a:t>. Az </a:t>
            </a:r>
            <a:r>
              <a:rPr lang="en-US" sz="1600" dirty="0" err="1"/>
              <a:t>müştəri</a:t>
            </a:r>
            <a:r>
              <a:rPr lang="en-US" sz="1600" dirty="0"/>
              <a:t> (53), amma </a:t>
            </a:r>
            <a:r>
              <a:rPr lang="en-US" sz="1600" dirty="0" err="1"/>
              <a:t>hər</a:t>
            </a:r>
            <a:r>
              <a:rPr lang="en-US" sz="1600" dirty="0"/>
              <a:t> </a:t>
            </a:r>
            <a:r>
              <a:rPr lang="en-US" sz="1600" dirty="0" err="1"/>
              <a:t>müştəri</a:t>
            </a:r>
            <a:r>
              <a:rPr lang="en-US" sz="1600" dirty="0"/>
              <a:t> </a:t>
            </a:r>
            <a:r>
              <a:rPr lang="en-US" sz="1600" dirty="0" err="1"/>
              <a:t>daha</a:t>
            </a:r>
            <a:r>
              <a:rPr lang="en-US" sz="1600" dirty="0"/>
              <a:t> </a:t>
            </a:r>
            <a:r>
              <a:rPr lang="en-US" sz="1600" dirty="0" err="1"/>
              <a:t>çox</a:t>
            </a:r>
            <a:r>
              <a:rPr lang="en-US" sz="1600" dirty="0"/>
              <a:t> </a:t>
            </a:r>
            <a:r>
              <a:rPr lang="en-US" sz="1600" dirty="0" err="1"/>
              <a:t>qazandırır</a:t>
            </a:r>
            <a:r>
              <a:rPr lang="en-US" sz="1600" dirty="0"/>
              <a:t>. </a:t>
            </a:r>
            <a:r>
              <a:rPr lang="en-US" sz="1600" b="1" dirty="0" err="1"/>
              <a:t>Ən</a:t>
            </a:r>
            <a:r>
              <a:rPr lang="en-US" sz="1600" b="1" dirty="0"/>
              <a:t> </a:t>
            </a:r>
            <a:r>
              <a:rPr lang="en-US" sz="1600" b="1" dirty="0" err="1"/>
              <a:t>qiymətli</a:t>
            </a:r>
            <a:r>
              <a:rPr lang="en-US" sz="1600" b="1" dirty="0"/>
              <a:t> </a:t>
            </a:r>
            <a:r>
              <a:rPr lang="en-US" sz="1600" b="1" dirty="0" err="1"/>
              <a:t>seqment</a:t>
            </a:r>
            <a:r>
              <a:rPr lang="en-US" sz="1600" b="1" dirty="0"/>
              <a:t>.</a:t>
            </a:r>
            <a:br>
              <a:rPr lang="en-US" sz="1600" dirty="0"/>
            </a:br>
            <a:br>
              <a:rPr lang="en-US" sz="1600" dirty="0"/>
            </a:br>
            <a:r>
              <a:rPr lang="en-US" sz="1600" b="1" dirty="0" err="1"/>
              <a:t>Gizli</a:t>
            </a:r>
            <a:r>
              <a:rPr lang="en-US" sz="1600" b="1" dirty="0"/>
              <a:t> </a:t>
            </a:r>
            <a:r>
              <a:rPr lang="en-US" sz="1600" b="1" dirty="0" err="1"/>
              <a:t>potensial</a:t>
            </a:r>
            <a:r>
              <a:rPr lang="en-US" sz="1600" b="1" dirty="0"/>
              <a:t>: CAVAN (18–30)</a:t>
            </a:r>
            <a:r>
              <a:rPr lang="en-US" sz="1600" dirty="0"/>
              <a:t> </a:t>
            </a:r>
            <a:r>
              <a:rPr lang="en-US" sz="1600" b="1" dirty="0" err="1"/>
              <a:t>Ən</a:t>
            </a:r>
            <a:r>
              <a:rPr lang="en-US" sz="1600" b="1" dirty="0"/>
              <a:t> </a:t>
            </a:r>
            <a:r>
              <a:rPr lang="en-US" sz="1600" b="1" dirty="0" err="1"/>
              <a:t>aşağı</a:t>
            </a:r>
            <a:r>
              <a:rPr lang="en-US" sz="1600" b="1" dirty="0"/>
              <a:t> </a:t>
            </a:r>
            <a:r>
              <a:rPr lang="en-US" sz="1600" b="1" dirty="0" err="1"/>
              <a:t>qaytarılma</a:t>
            </a:r>
            <a:r>
              <a:rPr lang="en-US" sz="1600" b="1" dirty="0"/>
              <a:t>: 16%</a:t>
            </a:r>
            <a:r>
              <a:rPr lang="en-US" sz="1600" dirty="0"/>
              <a:t> — </a:t>
            </a:r>
            <a:r>
              <a:rPr lang="en-US" sz="1600" dirty="0" err="1"/>
              <a:t>bütün</a:t>
            </a:r>
            <a:r>
              <a:rPr lang="en-US" sz="1600" dirty="0"/>
              <a:t> </a:t>
            </a:r>
            <a:r>
              <a:rPr lang="en-US" sz="1600" dirty="0" err="1"/>
              <a:t>qruplar</a:t>
            </a:r>
            <a:r>
              <a:rPr lang="en-US" sz="1600" dirty="0"/>
              <a:t> </a:t>
            </a:r>
            <a:r>
              <a:rPr lang="en-US" sz="1600" dirty="0" err="1"/>
              <a:t>içində</a:t>
            </a:r>
            <a:r>
              <a:rPr lang="en-US" sz="1600" dirty="0"/>
              <a:t> </a:t>
            </a:r>
            <a:r>
              <a:rPr lang="en-US" sz="1600" dirty="0" err="1"/>
              <a:t>ən</a:t>
            </a:r>
            <a:r>
              <a:rPr lang="en-US" sz="1600" dirty="0"/>
              <a:t> </a:t>
            </a:r>
            <a:r>
              <a:rPr lang="en-US" sz="1600" dirty="0" err="1"/>
              <a:t>sədaqətli</a:t>
            </a:r>
            <a:r>
              <a:rPr lang="en-US" sz="1600" dirty="0"/>
              <a:t> </a:t>
            </a:r>
            <a:r>
              <a:rPr lang="en-US" sz="1600" dirty="0" err="1"/>
              <a:t>alıcı</a:t>
            </a:r>
            <a:r>
              <a:rPr lang="en-US" sz="1600" dirty="0"/>
              <a:t>. Lakin </a:t>
            </a:r>
            <a:r>
              <a:rPr lang="en-US" sz="1600" dirty="0" err="1"/>
              <a:t>mənfəət</a:t>
            </a:r>
            <a:r>
              <a:rPr lang="en-US" sz="1600" dirty="0"/>
              <a:t> </a:t>
            </a:r>
            <a:r>
              <a:rPr lang="en-US" sz="1600" dirty="0" err="1"/>
              <a:t>marjası</a:t>
            </a:r>
            <a:r>
              <a:rPr lang="en-US" sz="1600" dirty="0"/>
              <a:t> da </a:t>
            </a:r>
            <a:r>
              <a:rPr lang="en-US" sz="1600" dirty="0" err="1"/>
              <a:t>ən</a:t>
            </a:r>
            <a:r>
              <a:rPr lang="en-US" sz="1600" dirty="0"/>
              <a:t> </a:t>
            </a:r>
            <a:r>
              <a:rPr lang="en-US" sz="1600" dirty="0" err="1"/>
              <a:t>aşağı</a:t>
            </a:r>
            <a:r>
              <a:rPr lang="en-US" sz="1600" dirty="0"/>
              <a:t>: </a:t>
            </a:r>
            <a:r>
              <a:rPr lang="en-US" sz="1600" b="1" dirty="0"/>
              <a:t>16%</a:t>
            </a:r>
            <a:r>
              <a:rPr lang="en-US" sz="1600" dirty="0"/>
              <a:t>. </a:t>
            </a:r>
            <a:r>
              <a:rPr lang="en-US" sz="1600" dirty="0" err="1"/>
              <a:t>Ucuz</a:t>
            </a:r>
            <a:r>
              <a:rPr lang="en-US" sz="1600" dirty="0"/>
              <a:t> </a:t>
            </a:r>
            <a:r>
              <a:rPr lang="en-US" sz="1600" dirty="0" err="1"/>
              <a:t>məhsul</a:t>
            </a:r>
            <a:r>
              <a:rPr lang="en-US" sz="1600" dirty="0"/>
              <a:t> </a:t>
            </a:r>
            <a:r>
              <a:rPr lang="en-US" sz="1600" dirty="0" err="1"/>
              <a:t>alırlar</a:t>
            </a:r>
            <a:r>
              <a:rPr lang="en-US" sz="1600" dirty="0"/>
              <a:t> — </a:t>
            </a:r>
            <a:r>
              <a:rPr lang="en-US" sz="1600" dirty="0" err="1"/>
              <a:t>orta</a:t>
            </a:r>
            <a:r>
              <a:rPr lang="en-US" sz="1600" dirty="0"/>
              <a:t> </a:t>
            </a:r>
            <a:r>
              <a:rPr lang="en-US" sz="1600" dirty="0" err="1"/>
              <a:t>sifariş</a:t>
            </a:r>
            <a:r>
              <a:rPr lang="en-US" sz="1600" dirty="0"/>
              <a:t> </a:t>
            </a:r>
            <a:r>
              <a:rPr lang="en-US" sz="1600" dirty="0" err="1"/>
              <a:t>dəyəri</a:t>
            </a:r>
            <a:r>
              <a:rPr lang="en-US" sz="1600" dirty="0"/>
              <a:t> $2,215 (</a:t>
            </a:r>
            <a:r>
              <a:rPr lang="en-US" sz="1600" dirty="0" err="1"/>
              <a:t>digərlərindən</a:t>
            </a:r>
            <a:r>
              <a:rPr lang="en-US" sz="1600" dirty="0"/>
              <a:t> ~$200 </a:t>
            </a:r>
            <a:r>
              <a:rPr lang="en-US" sz="1600" dirty="0" err="1"/>
              <a:t>aşağı</a:t>
            </a:r>
            <a:r>
              <a:rPr lang="en-US" sz="1600" dirty="0"/>
              <a:t>).</a:t>
            </a:r>
            <a:br>
              <a:rPr lang="en-US" sz="1600" dirty="0"/>
            </a:br>
            <a:br>
              <a:rPr lang="en-US" sz="1600" dirty="0"/>
            </a:br>
            <a:r>
              <a:rPr lang="en-US" sz="1600" dirty="0" err="1"/>
              <a:t>Hər</a:t>
            </a:r>
            <a:r>
              <a:rPr lang="en-US" sz="1600" dirty="0"/>
              <a:t> 3 </a:t>
            </a:r>
            <a:r>
              <a:rPr lang="en-US" sz="1600" dirty="0" err="1"/>
              <a:t>qrupda</a:t>
            </a:r>
            <a:r>
              <a:rPr lang="en-US" sz="1600" dirty="0"/>
              <a:t> </a:t>
            </a:r>
            <a:r>
              <a:rPr lang="en-US" sz="1600" dirty="0" err="1"/>
              <a:t>orta</a:t>
            </a:r>
            <a:r>
              <a:rPr lang="en-US" sz="1600" dirty="0"/>
              <a:t> </a:t>
            </a:r>
            <a:r>
              <a:rPr lang="en-US" sz="1600" dirty="0" err="1"/>
              <a:t>endirim</a:t>
            </a:r>
            <a:r>
              <a:rPr lang="en-US" sz="1600" dirty="0"/>
              <a:t> </a:t>
            </a:r>
            <a:r>
              <a:rPr lang="en-US" sz="1600" b="1" dirty="0"/>
              <a:t>~$23.97</a:t>
            </a:r>
            <a:r>
              <a:rPr lang="en-US" sz="1600" dirty="0"/>
              <a:t> — tam </a:t>
            </a:r>
            <a:r>
              <a:rPr lang="en-US" sz="1600" dirty="0" err="1"/>
              <a:t>bərabər</a:t>
            </a:r>
            <a:r>
              <a:rPr lang="en-US" sz="1600" dirty="0"/>
              <a:t>. </a:t>
            </a:r>
            <a:r>
              <a:rPr lang="en-US" sz="1600" dirty="0" err="1"/>
              <a:t>Yəni</a:t>
            </a:r>
            <a:r>
              <a:rPr lang="en-US" sz="1600" dirty="0"/>
              <a:t> </a:t>
            </a:r>
            <a:r>
              <a:rPr lang="en-US" sz="1600" dirty="0" err="1"/>
              <a:t>yaş</a:t>
            </a:r>
            <a:r>
              <a:rPr lang="en-US" sz="1600" dirty="0"/>
              <a:t> </a:t>
            </a:r>
            <a:r>
              <a:rPr lang="en-US" sz="1600" dirty="0" err="1"/>
              <a:t>seqmentinə</a:t>
            </a:r>
            <a:r>
              <a:rPr lang="en-US" sz="1600" dirty="0"/>
              <a:t> </a:t>
            </a:r>
            <a:r>
              <a:rPr lang="en-US" sz="1600" dirty="0" err="1"/>
              <a:t>görə</a:t>
            </a:r>
            <a:r>
              <a:rPr lang="en-US" sz="1600" dirty="0"/>
              <a:t> </a:t>
            </a:r>
            <a:r>
              <a:rPr lang="en-US" sz="1600" dirty="0" err="1"/>
              <a:t>heç</a:t>
            </a:r>
            <a:r>
              <a:rPr lang="en-US" sz="1600" dirty="0"/>
              <a:t> </a:t>
            </a:r>
            <a:r>
              <a:rPr lang="en-US" sz="1600" dirty="0" err="1"/>
              <a:t>bir</a:t>
            </a:r>
            <a:r>
              <a:rPr lang="en-US" sz="1600" dirty="0"/>
              <a:t> </a:t>
            </a:r>
            <a:r>
              <a:rPr lang="en-US" sz="1600" dirty="0" err="1"/>
              <a:t>fərqli</a:t>
            </a:r>
            <a:r>
              <a:rPr lang="en-US" sz="1600" dirty="0"/>
              <a:t> </a:t>
            </a:r>
            <a:r>
              <a:rPr lang="en-US" sz="1600" dirty="0" err="1"/>
              <a:t>qiymətləndirmə</a:t>
            </a:r>
            <a:r>
              <a:rPr lang="en-US" sz="1600" dirty="0"/>
              <a:t> </a:t>
            </a:r>
            <a:r>
              <a:rPr lang="en-US" sz="1600" dirty="0" err="1"/>
              <a:t>yoxdur</a:t>
            </a:r>
            <a:r>
              <a:rPr lang="en-US" sz="1600" dirty="0"/>
              <a:t>. QOCA </a:t>
            </a:r>
            <a:r>
              <a:rPr lang="en-US" sz="1600" dirty="0" err="1"/>
              <a:t>seqmenti</a:t>
            </a:r>
            <a:r>
              <a:rPr lang="en-US" sz="1600" dirty="0"/>
              <a:t> </a:t>
            </a:r>
            <a:r>
              <a:rPr lang="en-US" sz="1600" dirty="0" err="1"/>
              <a:t>daha</a:t>
            </a:r>
            <a:r>
              <a:rPr lang="en-US" sz="1600" dirty="0"/>
              <a:t> </a:t>
            </a:r>
            <a:r>
              <a:rPr lang="en-US" sz="1600" dirty="0" err="1"/>
              <a:t>az</a:t>
            </a:r>
            <a:r>
              <a:rPr lang="en-US" sz="1600" dirty="0"/>
              <a:t> </a:t>
            </a:r>
            <a:r>
              <a:rPr lang="en-US" sz="1600" dirty="0" err="1"/>
              <a:t>endirimlə</a:t>
            </a:r>
            <a:r>
              <a:rPr lang="en-US" sz="1600" dirty="0"/>
              <a:t> </a:t>
            </a:r>
            <a:r>
              <a:rPr lang="en-US" sz="1600" dirty="0" err="1"/>
              <a:t>eyni</a:t>
            </a:r>
            <a:r>
              <a:rPr lang="en-US" sz="1600" dirty="0"/>
              <a:t> </a:t>
            </a:r>
            <a:r>
              <a:rPr lang="en-US" sz="1600" dirty="0" err="1"/>
              <a:t>həcmdə</a:t>
            </a:r>
            <a:r>
              <a:rPr lang="en-US" sz="1600" dirty="0"/>
              <a:t> </a:t>
            </a:r>
            <a:r>
              <a:rPr lang="en-US" sz="1600" dirty="0" err="1"/>
              <a:t>alır</a:t>
            </a:r>
            <a:r>
              <a:rPr lang="en-US" sz="1600" dirty="0"/>
              <a:t> — </a:t>
            </a:r>
            <a:r>
              <a:rPr lang="en-US" sz="1600" dirty="0" err="1"/>
              <a:t>bu</a:t>
            </a:r>
            <a:r>
              <a:rPr lang="en-US" sz="1600" dirty="0"/>
              <a:t> </a:t>
            </a:r>
            <a:r>
              <a:rPr lang="en-US" sz="1600" dirty="0" err="1"/>
              <a:t>seqmentə</a:t>
            </a:r>
            <a:r>
              <a:rPr lang="en-US" sz="1600" dirty="0"/>
              <a:t> </a:t>
            </a:r>
            <a:r>
              <a:rPr lang="en-US" sz="1600" dirty="0" err="1"/>
              <a:t>endirim</a:t>
            </a:r>
            <a:r>
              <a:rPr lang="en-US" sz="1600" dirty="0"/>
              <a:t> </a:t>
            </a:r>
            <a:r>
              <a:rPr lang="en-US" sz="1600" dirty="0" err="1"/>
              <a:t>azaldılsa</a:t>
            </a:r>
            <a:r>
              <a:rPr lang="en-US" sz="1600" dirty="0"/>
              <a:t> </a:t>
            </a:r>
            <a:r>
              <a:rPr lang="en-US" sz="1600" dirty="0" err="1"/>
              <a:t>mənfəət</a:t>
            </a:r>
            <a:r>
              <a:rPr lang="en-US" sz="1600" dirty="0"/>
              <a:t> </a:t>
            </a:r>
            <a:r>
              <a:rPr lang="en-US" sz="1600" dirty="0" err="1"/>
              <a:t>artır</a:t>
            </a:r>
            <a:r>
              <a:rPr lang="en-US" sz="1600" dirty="0"/>
              <a:t>.</a:t>
            </a:r>
            <a:br>
              <a:rPr lang="az-Latn-AZ" sz="1600" dirty="0"/>
            </a:br>
            <a:br>
              <a:rPr lang="az-Latn-AZ" sz="1600" dirty="0"/>
            </a:br>
            <a:r>
              <a:rPr lang="az-Latn-AZ" sz="1600" dirty="0"/>
              <a:t>CAVAN   → az qaytarır, az qazandırır</a:t>
            </a:r>
            <a:br>
              <a:rPr lang="az-Latn-AZ" sz="1600" dirty="0"/>
            </a:br>
            <a:r>
              <a:rPr lang="az-Latn-AZ" sz="1600" dirty="0"/>
              <a:t>QOCA    → çox qaytarır, çox qazandırır  </a:t>
            </a:r>
            <a:br>
              <a:rPr lang="az-Latn-AZ" sz="1600" dirty="0"/>
            </a:br>
            <a:r>
              <a:rPr lang="az-Latn-AZ" sz="1600" dirty="0"/>
              <a:t>ORTA    → hər şeyin ortasında, amma ən böyük kütlə</a:t>
            </a:r>
            <a:endParaRPr lang="en-US" sz="1600" dirty="0"/>
          </a:p>
        </p:txBody>
      </p:sp>
      <p:graphicFrame>
        <p:nvGraphicFramePr>
          <p:cNvPr id="20" name="Content Placeholder 3">
            <a:extLst>
              <a:ext uri="{FF2B5EF4-FFF2-40B4-BE49-F238E27FC236}">
                <a16:creationId xmlns:a16="http://schemas.microsoft.com/office/drawing/2014/main" id="{6C891974-377E-7298-35BE-FB3E4557001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20817384"/>
              </p:ext>
            </p:extLst>
          </p:nvPr>
        </p:nvGraphicFramePr>
        <p:xfrm>
          <a:off x="0" y="47152"/>
          <a:ext cx="9404358" cy="8111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00173">
                  <a:extLst>
                    <a:ext uri="{9D8B030D-6E8A-4147-A177-3AD203B41FA5}">
                      <a16:colId xmlns:a16="http://schemas.microsoft.com/office/drawing/2014/main" val="1950148511"/>
                    </a:ext>
                  </a:extLst>
                </a:gridCol>
                <a:gridCol w="851323">
                  <a:extLst>
                    <a:ext uri="{9D8B030D-6E8A-4147-A177-3AD203B41FA5}">
                      <a16:colId xmlns:a16="http://schemas.microsoft.com/office/drawing/2014/main" val="1714750335"/>
                    </a:ext>
                  </a:extLst>
                </a:gridCol>
                <a:gridCol w="711572">
                  <a:extLst>
                    <a:ext uri="{9D8B030D-6E8A-4147-A177-3AD203B41FA5}">
                      <a16:colId xmlns:a16="http://schemas.microsoft.com/office/drawing/2014/main" val="3451376457"/>
                    </a:ext>
                  </a:extLst>
                </a:gridCol>
                <a:gridCol w="857900">
                  <a:extLst>
                    <a:ext uri="{9D8B030D-6E8A-4147-A177-3AD203B41FA5}">
                      <a16:colId xmlns:a16="http://schemas.microsoft.com/office/drawing/2014/main" val="1556415062"/>
                    </a:ext>
                  </a:extLst>
                </a:gridCol>
                <a:gridCol w="1214678">
                  <a:extLst>
                    <a:ext uri="{9D8B030D-6E8A-4147-A177-3AD203B41FA5}">
                      <a16:colId xmlns:a16="http://schemas.microsoft.com/office/drawing/2014/main" val="3434595579"/>
                    </a:ext>
                  </a:extLst>
                </a:gridCol>
                <a:gridCol w="1038755">
                  <a:extLst>
                    <a:ext uri="{9D8B030D-6E8A-4147-A177-3AD203B41FA5}">
                      <a16:colId xmlns:a16="http://schemas.microsoft.com/office/drawing/2014/main" val="2519437390"/>
                    </a:ext>
                  </a:extLst>
                </a:gridCol>
                <a:gridCol w="1012449">
                  <a:extLst>
                    <a:ext uri="{9D8B030D-6E8A-4147-A177-3AD203B41FA5}">
                      <a16:colId xmlns:a16="http://schemas.microsoft.com/office/drawing/2014/main" val="3511797449"/>
                    </a:ext>
                  </a:extLst>
                </a:gridCol>
                <a:gridCol w="892427">
                  <a:extLst>
                    <a:ext uri="{9D8B030D-6E8A-4147-A177-3AD203B41FA5}">
                      <a16:colId xmlns:a16="http://schemas.microsoft.com/office/drawing/2014/main" val="1282928684"/>
                    </a:ext>
                  </a:extLst>
                </a:gridCol>
                <a:gridCol w="681978">
                  <a:extLst>
                    <a:ext uri="{9D8B030D-6E8A-4147-A177-3AD203B41FA5}">
                      <a16:colId xmlns:a16="http://schemas.microsoft.com/office/drawing/2014/main" val="1848655954"/>
                    </a:ext>
                  </a:extLst>
                </a:gridCol>
                <a:gridCol w="843103">
                  <a:extLst>
                    <a:ext uri="{9D8B030D-6E8A-4147-A177-3AD203B41FA5}">
                      <a16:colId xmlns:a16="http://schemas.microsoft.com/office/drawing/2014/main" val="4158578466"/>
                    </a:ext>
                  </a:extLst>
                </a:gridCol>
              </a:tblGrid>
              <a:tr h="2027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YAS_KATEQORIYA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musteri_sayi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Qaytarilan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cem_mehsul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QAytarilma_nisbeti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QRUP_menfeet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UMUMI_SATIS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Menfeet_faizi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orta_satis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orta_endirim</a:t>
                      </a:r>
                      <a:endParaRPr lang="en-US" sz="10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extLst>
                  <a:ext uri="{0D108BD9-81ED-4DB2-BD59-A6C34878D82A}">
                    <a16:rowId xmlns:a16="http://schemas.microsoft.com/office/drawing/2014/main" val="2879711154"/>
                  </a:ext>
                </a:extLst>
              </a:tr>
              <a:tr h="2027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ORTA YASLI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64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418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1912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22%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183498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928407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20%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2417.73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23.94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extLst>
                  <a:ext uri="{0D108BD9-81ED-4DB2-BD59-A6C34878D82A}">
                    <a16:rowId xmlns:a16="http://schemas.microsoft.com/office/drawing/2014/main" val="4233026437"/>
                  </a:ext>
                </a:extLst>
              </a:tr>
              <a:tr h="2027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QOCA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53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341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1491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23%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174779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749038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23%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2431.94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23.96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extLst>
                  <a:ext uri="{0D108BD9-81ED-4DB2-BD59-A6C34878D82A}">
                    <a16:rowId xmlns:a16="http://schemas.microsoft.com/office/drawing/2014/main" val="131726122"/>
                  </a:ext>
                </a:extLst>
              </a:tr>
              <a:tr h="202783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CAVAN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59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256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1552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16%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114927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726807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16%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>
                          <a:effectLst/>
                        </a:rPr>
                        <a:t>2215.88</a:t>
                      </a:r>
                      <a:endParaRPr lang="en-US" sz="10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en-US" sz="1000" u="none" strike="noStrike" dirty="0">
                          <a:effectLst/>
                        </a:rPr>
                        <a:t>23.98</a:t>
                      </a:r>
                      <a:endParaRPr lang="en-US" sz="10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064" marR="7064" marT="7064" marB="0" anchor="b"/>
                </a:tc>
                <a:extLst>
                  <a:ext uri="{0D108BD9-81ED-4DB2-BD59-A6C34878D82A}">
                    <a16:rowId xmlns:a16="http://schemas.microsoft.com/office/drawing/2014/main" val="596044136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1FD2F0A-00C3-F386-C96E-D25FE544078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65112518"/>
              </p:ext>
            </p:extLst>
          </p:nvPr>
        </p:nvGraphicFramePr>
        <p:xfrm>
          <a:off x="5142271" y="956186"/>
          <a:ext cx="7049730" cy="276040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E937C3EC-4B7B-40BA-92C0-9B4947881C1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95861477"/>
              </p:ext>
            </p:extLst>
          </p:nvPr>
        </p:nvGraphicFramePr>
        <p:xfrm>
          <a:off x="5142270" y="3699386"/>
          <a:ext cx="7049730" cy="313097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70240062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AA673E-F561-78BE-FCB4-546D75CAE1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9499" y="257630"/>
            <a:ext cx="2963181" cy="854972"/>
          </a:xfrm>
        </p:spPr>
        <p:txBody>
          <a:bodyPr/>
          <a:lstStyle/>
          <a:p>
            <a:r>
              <a:rPr lang="en-US" sz="4400" b="1" dirty="0" err="1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Tövsiyələr</a:t>
            </a:r>
            <a:br>
              <a:rPr lang="en-US" sz="4400" dirty="0"/>
            </a:br>
            <a:endParaRPr lang="en-US" dirty="0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F96A9D3-182D-1452-B6F0-515EDBFD70BF}"/>
              </a:ext>
            </a:extLst>
          </p:cNvPr>
          <p:cNvGrpSpPr/>
          <p:nvPr/>
        </p:nvGrpSpPr>
        <p:grpSpPr>
          <a:xfrm>
            <a:off x="238935" y="1482504"/>
            <a:ext cx="3485385" cy="2224257"/>
            <a:chOff x="914400" y="3814916"/>
            <a:chExt cx="2399071" cy="2428568"/>
          </a:xfrm>
        </p:grpSpPr>
        <p:sp>
          <p:nvSpPr>
            <p:cNvPr id="5" name="Rectangle: Rounded Corners 4">
              <a:extLst>
                <a:ext uri="{FF2B5EF4-FFF2-40B4-BE49-F238E27FC236}">
                  <a16:creationId xmlns:a16="http://schemas.microsoft.com/office/drawing/2014/main" id="{6815D89B-C4A7-2CDA-635F-8DD2BF13DA19}"/>
                </a:ext>
              </a:extLst>
            </p:cNvPr>
            <p:cNvSpPr/>
            <p:nvPr/>
          </p:nvSpPr>
          <p:spPr>
            <a:xfrm>
              <a:off x="914400" y="3814916"/>
              <a:ext cx="2399071" cy="2428568"/>
            </a:xfrm>
            <a:prstGeom prst="round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Hədəf</a:t>
              </a:r>
              <a:r>
                <a:rPr lang="en-US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26% → 20%.</a:t>
              </a:r>
              <a:endParaRPr lang="az-Latn-AZ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r>
                <a:rPr lang="en-US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Məhsul</a:t>
              </a:r>
              <a:r>
                <a:rPr lang="en-US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təsvirini</a:t>
              </a:r>
              <a:r>
                <a:rPr lang="en-US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ölçü</a:t>
              </a:r>
              <a:r>
                <a:rPr lang="en-US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cədvəlini</a:t>
              </a:r>
              <a:r>
                <a:rPr lang="en-US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müştəri</a:t>
              </a:r>
              <a:r>
                <a:rPr lang="en-US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rəylərini</a:t>
              </a:r>
              <a:r>
                <a:rPr lang="en-US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yaxşılaşdır</a:t>
              </a:r>
              <a:r>
                <a:rPr lang="az-Latn-AZ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araq geri qaytarılmanı azaldaq</a:t>
              </a:r>
              <a:r>
                <a:rPr lang="en-US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az-Latn-AZ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endParaRPr lang="en-US" dirty="0"/>
            </a:p>
          </p:txBody>
        </p:sp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8A07FD3F-2F1B-8F2E-F247-AF27FA220B0F}"/>
                </a:ext>
              </a:extLst>
            </p:cNvPr>
            <p:cNvSpPr/>
            <p:nvPr/>
          </p:nvSpPr>
          <p:spPr>
            <a:xfrm>
              <a:off x="1104974" y="3876459"/>
              <a:ext cx="2017922" cy="338930"/>
            </a:xfrm>
            <a:prstGeom prst="roundRect">
              <a:avLst/>
            </a:prstGeom>
            <a:solidFill>
              <a:srgbClr val="0D6E6E"/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600" b="1" dirty="0">
                  <a:solidFill>
                    <a:schemeClr val="tx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Home </a:t>
              </a:r>
              <a:r>
                <a:rPr lang="en-US" sz="1600" b="1" dirty="0" err="1">
                  <a:solidFill>
                    <a:schemeClr val="tx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Qaytarılmasını</a:t>
              </a:r>
              <a:r>
                <a:rPr lang="en-US" sz="1600" b="1" dirty="0">
                  <a:solidFill>
                    <a:schemeClr val="tx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 </a:t>
              </a:r>
              <a:r>
                <a:rPr lang="en-US" sz="1600" b="1" dirty="0" err="1">
                  <a:solidFill>
                    <a:schemeClr val="tx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Azalt</a:t>
              </a:r>
              <a:endParaRPr lang="en-US" sz="16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FA991B1-8677-510D-02BC-AF8132DB6A5F}"/>
              </a:ext>
            </a:extLst>
          </p:cNvPr>
          <p:cNvGrpSpPr/>
          <p:nvPr/>
        </p:nvGrpSpPr>
        <p:grpSpPr>
          <a:xfrm>
            <a:off x="4246694" y="1482504"/>
            <a:ext cx="3598606" cy="2224257"/>
            <a:chOff x="913170" y="3788645"/>
            <a:chExt cx="2399071" cy="2428568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CED893BC-E117-BE8D-862F-43DBA9869845}"/>
                </a:ext>
              </a:extLst>
            </p:cNvPr>
            <p:cNvSpPr/>
            <p:nvPr/>
          </p:nvSpPr>
          <p:spPr>
            <a:xfrm>
              <a:off x="913170" y="3788645"/>
              <a:ext cx="2399071" cy="2428568"/>
            </a:xfrm>
            <a:prstGeom prst="round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C.125, C.120, C.194 — 3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müştəri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$147,862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gəlir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yaradır</a:t>
              </a:r>
              <a:r>
                <a:rPr lang="az-Latn-AZ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600" dirty="0"/>
            </a:p>
            <a:p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Xüsusi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endirim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prioritet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xidmət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,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erkən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giriş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kampaniyası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ilə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seqmenti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qoru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600" dirty="0"/>
            </a:p>
          </p:txBody>
        </p:sp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9DF10019-2A89-5BDC-27D9-D8C6D3E18721}"/>
                </a:ext>
              </a:extLst>
            </p:cNvPr>
            <p:cNvSpPr/>
            <p:nvPr/>
          </p:nvSpPr>
          <p:spPr>
            <a:xfrm>
              <a:off x="1128250" y="3850188"/>
              <a:ext cx="1968911" cy="338930"/>
            </a:xfrm>
            <a:prstGeom prst="roundRect">
              <a:avLst/>
            </a:prstGeom>
            <a:solidFill>
              <a:srgbClr val="0D6E6E"/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VIP </a:t>
              </a:r>
              <a:r>
                <a:rPr lang="en-US" sz="1400" b="1" dirty="0" err="1">
                  <a:solidFill>
                    <a:schemeClr val="tx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Müştəri</a:t>
              </a:r>
              <a:r>
                <a:rPr lang="en-US" sz="1400" b="1" dirty="0">
                  <a:solidFill>
                    <a:schemeClr val="tx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 </a:t>
              </a:r>
              <a:r>
                <a:rPr lang="en-US" sz="1400" b="1" dirty="0" err="1">
                  <a:solidFill>
                    <a:schemeClr val="tx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Proqramı</a:t>
              </a:r>
              <a:r>
                <a:rPr lang="en-US" sz="1400" b="1" dirty="0">
                  <a:solidFill>
                    <a:schemeClr val="tx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 </a:t>
              </a:r>
              <a:r>
                <a:rPr lang="en-US" sz="1400" b="1" dirty="0" err="1">
                  <a:solidFill>
                    <a:schemeClr val="tx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Qur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6168B205-A5DB-2C8D-F24B-21C56F635C24}"/>
              </a:ext>
            </a:extLst>
          </p:cNvPr>
          <p:cNvGrpSpPr/>
          <p:nvPr/>
        </p:nvGrpSpPr>
        <p:grpSpPr>
          <a:xfrm>
            <a:off x="4237864" y="4112812"/>
            <a:ext cx="3598606" cy="2224257"/>
            <a:chOff x="913170" y="3788645"/>
            <a:chExt cx="2399071" cy="2428568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B159F50-D8EB-F10E-0CA6-9C828C321F5A}"/>
                </a:ext>
              </a:extLst>
            </p:cNvPr>
            <p:cNvSpPr/>
            <p:nvPr/>
          </p:nvSpPr>
          <p:spPr>
            <a:xfrm>
              <a:off x="913170" y="3788645"/>
              <a:ext cx="2399071" cy="2428568"/>
            </a:xfrm>
            <a:prstGeom prst="round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Kart 29.7%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ilə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ən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az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istifadə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edilən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üsuldur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  <a:endParaRPr lang="en-US" sz="1600" dirty="0"/>
            </a:p>
            <a:p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Kart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ilə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5-10% cashback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kampaniyası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sına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az-Latn-AZ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ilə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nəticəni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3 ay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izlə</a:t>
              </a:r>
              <a:r>
                <a:rPr lang="az-Latn-AZ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yək və ROİ-ə nəzarət.</a:t>
              </a:r>
              <a:endParaRPr lang="en-US" sz="1600" dirty="0"/>
            </a:p>
          </p:txBody>
        </p:sp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D31465B1-5E02-ACC5-22AA-E45B24CB0394}"/>
                </a:ext>
              </a:extLst>
            </p:cNvPr>
            <p:cNvSpPr/>
            <p:nvPr/>
          </p:nvSpPr>
          <p:spPr>
            <a:xfrm>
              <a:off x="1128250" y="3850188"/>
              <a:ext cx="1968911" cy="338930"/>
            </a:xfrm>
            <a:prstGeom prst="roundRect">
              <a:avLst/>
            </a:prstGeom>
            <a:solidFill>
              <a:srgbClr val="0D6E6E"/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Kart </a:t>
              </a:r>
              <a:r>
                <a:rPr lang="en-US" sz="1400" b="1" dirty="0" err="1">
                  <a:solidFill>
                    <a:schemeClr val="tx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Ödənişini</a:t>
              </a:r>
              <a:r>
                <a:rPr lang="en-US" sz="1400" b="1" dirty="0">
                  <a:solidFill>
                    <a:schemeClr val="tx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 </a:t>
              </a:r>
              <a:r>
                <a:rPr lang="en-US" sz="1400" b="1" dirty="0" err="1">
                  <a:solidFill>
                    <a:schemeClr val="tx1"/>
                  </a:solidFill>
                  <a:latin typeface="Trebuchet MS" pitchFamily="34" charset="0"/>
                  <a:ea typeface="Trebuchet MS" pitchFamily="34" charset="-122"/>
                  <a:cs typeface="Trebuchet MS" pitchFamily="34" charset="-120"/>
                </a:rPr>
                <a:t>Stimullaşdır</a:t>
              </a:r>
              <a:endParaRPr lang="en-US" sz="1400" dirty="0">
                <a:solidFill>
                  <a:schemeClr val="tx1"/>
                </a:solidFill>
              </a:endParaRPr>
            </a:p>
          </p:txBody>
        </p:sp>
      </p:grpSp>
      <p:sp>
        <p:nvSpPr>
          <p:cNvPr id="18" name="Arrow: Left 17">
            <a:hlinkClick r:id="rId2" action="ppaction://hlinksldjump"/>
            <a:extLst>
              <a:ext uri="{FF2B5EF4-FFF2-40B4-BE49-F238E27FC236}">
                <a16:creationId xmlns:a16="http://schemas.microsoft.com/office/drawing/2014/main" id="{D11D8074-BD0E-66F2-F65E-B653AF220D11}"/>
              </a:ext>
            </a:extLst>
          </p:cNvPr>
          <p:cNvSpPr/>
          <p:nvPr/>
        </p:nvSpPr>
        <p:spPr>
          <a:xfrm>
            <a:off x="78658" y="138991"/>
            <a:ext cx="2113936" cy="934065"/>
          </a:xfrm>
          <a:prstGeom prst="lef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az-Latn-AZ" b="1" dirty="0"/>
              <a:t>MÜNDƏRİCAT</a:t>
            </a:r>
            <a:endParaRPr lang="en-US" b="1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1951C2B1-BD47-0A72-2960-C26C5A4A5553}"/>
              </a:ext>
            </a:extLst>
          </p:cNvPr>
          <p:cNvSpPr/>
          <p:nvPr/>
        </p:nvSpPr>
        <p:spPr>
          <a:xfrm>
            <a:off x="238935" y="4120738"/>
            <a:ext cx="3485385" cy="2224257"/>
          </a:xfrm>
          <a:prstGeom prst="roundRect">
            <a:avLst/>
          </a:prstGeom>
          <a:solidFill>
            <a:schemeClr val="bg2">
              <a:lumMod val="40000"/>
              <a:lumOff val="60000"/>
            </a:schemeClr>
          </a:solidFill>
          <a:ln>
            <a:solidFill>
              <a:schemeClr val="bg1"/>
            </a:solidFill>
          </a:ln>
        </p:spPr>
        <p:style>
          <a:lnRef idx="3">
            <a:schemeClr val="lt1"/>
          </a:lnRef>
          <a:fillRef idx="1">
            <a:schemeClr val="dk1"/>
          </a:fillRef>
          <a:effectRef idx="1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23% </a:t>
            </a:r>
            <a:r>
              <a:rPr lang="en-US" sz="1400" dirty="0" err="1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qaytarılma</a:t>
            </a: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</a:t>
            </a:r>
            <a:r>
              <a:rPr lang="en-US" sz="1400" dirty="0" err="1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ən</a:t>
            </a: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yüksək</a:t>
            </a: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mənfəət</a:t>
            </a: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marjası</a:t>
            </a: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</a:t>
            </a:r>
            <a:r>
              <a:rPr lang="en-US" sz="1400" dirty="0" err="1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ən</a:t>
            </a: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böyük</a:t>
            </a: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itki</a:t>
            </a: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nöqtəsi</a:t>
            </a: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az-Latn-AZ" sz="1400" dirty="0">
              <a:solidFill>
                <a:srgbClr val="1A253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en-US" sz="1400" dirty="0" err="1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Əgər</a:t>
            </a: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səbəb</a:t>
            </a: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"Customer Dissatisfaction"-</a:t>
            </a:r>
            <a:r>
              <a:rPr lang="en-US" sz="1400" dirty="0" err="1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dırsa</a:t>
            </a: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</a:t>
            </a:r>
            <a:r>
              <a:rPr lang="en-US" sz="1400" dirty="0" err="1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məhsul</a:t>
            </a: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təsviri</a:t>
            </a: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400" dirty="0" err="1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</a:t>
            </a: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</a:t>
            </a:r>
            <a:r>
              <a:rPr lang="en-US" sz="1400" dirty="0" err="1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Əgər</a:t>
            </a: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"Wrong Item"-</a:t>
            </a:r>
            <a:r>
              <a:rPr lang="en-US" sz="1400" dirty="0" err="1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dirsə</a:t>
            </a: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→ fulfillment </a:t>
            </a:r>
            <a:r>
              <a:rPr lang="en-US" sz="1400" dirty="0" err="1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problemi</a:t>
            </a:r>
            <a:r>
              <a:rPr lang="en-US" sz="14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</a:p>
          <a:p>
            <a:endParaRPr lang="en-US" sz="1400" dirty="0">
              <a:solidFill>
                <a:srgbClr val="1A2535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C39A5BC-5A3E-78E4-5D60-BCA7689667AD}"/>
              </a:ext>
            </a:extLst>
          </p:cNvPr>
          <p:cNvSpPr/>
          <p:nvPr/>
        </p:nvSpPr>
        <p:spPr>
          <a:xfrm>
            <a:off x="515802" y="4177103"/>
            <a:ext cx="2931649" cy="310416"/>
          </a:xfrm>
          <a:prstGeom prst="roundRect">
            <a:avLst/>
          </a:prstGeom>
          <a:solidFill>
            <a:srgbClr val="0D6E6E"/>
          </a:solidFill>
          <a:ln>
            <a:solidFill>
              <a:schemeClr val="bg1">
                <a:lumMod val="95000"/>
                <a:lumOff val="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chemeClr val="tx1"/>
                </a:solidFill>
                <a:latin typeface="Trebuchet MS" pitchFamily="34" charset="0"/>
              </a:rPr>
              <a:t>QOCA-</a:t>
            </a:r>
            <a:r>
              <a:rPr lang="en-US" sz="1400" b="1" dirty="0" err="1">
                <a:solidFill>
                  <a:schemeClr val="tx1"/>
                </a:solidFill>
                <a:latin typeface="Trebuchet MS" pitchFamily="34" charset="0"/>
              </a:rPr>
              <a:t>nın</a:t>
            </a:r>
            <a:r>
              <a:rPr lang="en-US" sz="1400" b="1" dirty="0">
                <a:solidFill>
                  <a:schemeClr val="tx1"/>
                </a:solidFill>
                <a:latin typeface="Trebuchet MS" pitchFamily="34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Trebuchet MS" pitchFamily="34" charset="0"/>
              </a:rPr>
              <a:t>qaytarılmasını</a:t>
            </a:r>
            <a:r>
              <a:rPr lang="en-US" sz="1400" b="1" dirty="0">
                <a:solidFill>
                  <a:schemeClr val="tx1"/>
                </a:solidFill>
                <a:latin typeface="Trebuchet MS" pitchFamily="34" charset="0"/>
              </a:rPr>
              <a:t> </a:t>
            </a:r>
            <a:r>
              <a:rPr lang="en-US" sz="1400" b="1" dirty="0" err="1">
                <a:solidFill>
                  <a:schemeClr val="tx1"/>
                </a:solidFill>
                <a:latin typeface="Trebuchet MS" pitchFamily="34" charset="0"/>
              </a:rPr>
              <a:t>azalt</a:t>
            </a:r>
            <a:endParaRPr lang="en-US" sz="1400" b="1" dirty="0">
              <a:solidFill>
                <a:schemeClr val="tx1"/>
              </a:solidFill>
              <a:latin typeface="Trebuchet MS" pitchFamily="34" charset="0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3887B86-4E09-EF80-1D4E-071A36AF624B}"/>
              </a:ext>
            </a:extLst>
          </p:cNvPr>
          <p:cNvGrpSpPr/>
          <p:nvPr/>
        </p:nvGrpSpPr>
        <p:grpSpPr>
          <a:xfrm>
            <a:off x="8358844" y="1482504"/>
            <a:ext cx="3485385" cy="4862490"/>
            <a:chOff x="4298396" y="4076663"/>
            <a:chExt cx="3485385" cy="3209040"/>
          </a:xfrm>
        </p:grpSpPr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98E7B804-F679-C6F8-6339-A45C41250F3C}"/>
                </a:ext>
              </a:extLst>
            </p:cNvPr>
            <p:cNvSpPr/>
            <p:nvPr/>
          </p:nvSpPr>
          <p:spPr>
            <a:xfrm>
              <a:off x="4298396" y="4076663"/>
              <a:ext cx="3485385" cy="3209040"/>
            </a:xfrm>
            <a:prstGeom prst="roundRect">
              <a:avLst/>
            </a:prstGeom>
            <a:solidFill>
              <a:schemeClr val="bg2">
                <a:lumMod val="40000"/>
                <a:lumOff val="60000"/>
              </a:schemeClr>
            </a:solidFill>
            <a:ln>
              <a:solidFill>
                <a:schemeClr val="bg1"/>
              </a:solidFill>
            </a:ln>
          </p:spPr>
          <p:style>
            <a:lnRef idx="3">
              <a:schemeClr val="lt1"/>
            </a:lnRef>
            <a:fillRef idx="1">
              <a:schemeClr val="dk1"/>
            </a:fillRef>
            <a:effectRef idx="1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16%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qaytarılma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=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ən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sədaqətli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alıcı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 Amma $2,215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orta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sifariş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—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ən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aşağı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.</a:t>
              </a:r>
            </a:p>
            <a:p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Nə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etmək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lazımdır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</a:t>
              </a:r>
            </a:p>
            <a:p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CAVAN-a premium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məhsul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tövsiyəsi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(recommendation engine)</a:t>
              </a:r>
            </a:p>
            <a:p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"Buna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baxanlar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bunu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da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aldı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" —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dəyər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artırma</a:t>
              </a:r>
              <a:endParaRPr lang="en-US" sz="16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Hədəf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orta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sifarişi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$2,215 → $2,350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çatdırmaq</a:t>
              </a:r>
              <a:endParaRPr lang="en-US" sz="16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Gözlənilən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effekt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: 59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müştəri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× $135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artım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= $7,965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əlavə</a:t>
              </a:r>
              <a:r>
                <a:rPr lang="en-US" sz="1600" dirty="0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 </a:t>
              </a:r>
              <a:r>
                <a:rPr lang="en-US" sz="1600" dirty="0" err="1">
                  <a:solidFill>
                    <a:srgbClr val="1A2535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gəlir</a:t>
              </a:r>
              <a:endParaRPr lang="en-US" sz="1600" dirty="0">
                <a:solidFill>
                  <a:srgbClr val="1A25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</p:txBody>
        </p:sp>
        <p:sp>
          <p:nvSpPr>
            <p:cNvPr id="17" name="Rectangle: Rounded Corners 16">
              <a:extLst>
                <a:ext uri="{FF2B5EF4-FFF2-40B4-BE49-F238E27FC236}">
                  <a16:creationId xmlns:a16="http://schemas.microsoft.com/office/drawing/2014/main" id="{9B9772AE-A624-457B-9F9F-39AD88BA00EA}"/>
                </a:ext>
              </a:extLst>
            </p:cNvPr>
            <p:cNvSpPr/>
            <p:nvPr/>
          </p:nvSpPr>
          <p:spPr>
            <a:xfrm>
              <a:off x="4575263" y="4248585"/>
              <a:ext cx="2931649" cy="310416"/>
            </a:xfrm>
            <a:prstGeom prst="roundRect">
              <a:avLst/>
            </a:prstGeom>
            <a:solidFill>
              <a:srgbClr val="0D6E6E"/>
            </a:solidFill>
            <a:ln>
              <a:solidFill>
                <a:schemeClr val="bg1">
                  <a:lumMod val="95000"/>
                  <a:lumOff val="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>
                  <a:solidFill>
                    <a:schemeClr val="tx1"/>
                  </a:solidFill>
                  <a:latin typeface="Trebuchet MS" pitchFamily="34" charset="0"/>
                </a:rPr>
                <a:t>CAVAN </a:t>
              </a:r>
              <a:r>
                <a:rPr lang="en-US" sz="1400" b="1" dirty="0" err="1">
                  <a:solidFill>
                    <a:schemeClr val="tx1"/>
                  </a:solidFill>
                  <a:latin typeface="Trebuchet MS" pitchFamily="34" charset="0"/>
                </a:rPr>
                <a:t>seqmentini</a:t>
              </a:r>
              <a:r>
                <a:rPr lang="en-US" sz="1400" b="1" dirty="0">
                  <a:solidFill>
                    <a:schemeClr val="tx1"/>
                  </a:solidFill>
                  <a:latin typeface="Trebuchet MS" pitchFamily="34" charset="0"/>
                </a:rPr>
                <a:t> </a:t>
              </a:r>
              <a:r>
                <a:rPr lang="en-US" sz="1400" b="1" dirty="0" err="1">
                  <a:solidFill>
                    <a:schemeClr val="tx1"/>
                  </a:solidFill>
                  <a:latin typeface="Trebuchet MS" pitchFamily="34" charset="0"/>
                </a:rPr>
                <a:t>yuxarı</a:t>
              </a:r>
              <a:r>
                <a:rPr lang="en-US" sz="1400" b="1" dirty="0">
                  <a:solidFill>
                    <a:schemeClr val="tx1"/>
                  </a:solidFill>
                  <a:latin typeface="Trebuchet MS" pitchFamily="34" charset="0"/>
                </a:rPr>
                <a:t> </a:t>
              </a:r>
              <a:r>
                <a:rPr lang="en-US" sz="1400" b="1" dirty="0" err="1">
                  <a:solidFill>
                    <a:schemeClr val="tx1"/>
                  </a:solidFill>
                  <a:latin typeface="Trebuchet MS" pitchFamily="34" charset="0"/>
                </a:rPr>
                <a:t>çək</a:t>
              </a:r>
              <a:endParaRPr lang="en-US" sz="1400" b="1" dirty="0">
                <a:solidFill>
                  <a:schemeClr val="tx1"/>
                </a:solidFill>
                <a:latin typeface="Trebuchet MS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2623689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294</TotalTime>
  <Words>1281</Words>
  <Application>Microsoft Office PowerPoint</Application>
  <PresentationFormat>Widescreen</PresentationFormat>
  <Paragraphs>129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Calibri</vt:lpstr>
      <vt:lpstr>Century Gothic</vt:lpstr>
      <vt:lpstr>Trebuchet MS</vt:lpstr>
      <vt:lpstr>Wingdings 3</vt:lpstr>
      <vt:lpstr>Ion</vt:lpstr>
      <vt:lpstr>E-Commerce Satış Analizi        Sadıqov Ədalət   31.05.2026</vt:lpstr>
      <vt:lpstr>Mündəricat</vt:lpstr>
      <vt:lpstr>Ümumi göstəricilər</vt:lpstr>
      <vt:lpstr>PowerPoint Presentation</vt:lpstr>
      <vt:lpstr>PowerPoint Presentation</vt:lpstr>
      <vt:lpstr>Top 5 ümumi gəlir: $228,367 | Ümumi satışa payı: 9.6% Customer 125 — $55,845 Həm sifariş sayında (22), həm kəmiyyətdə (97), həm də gəlirdə birinci. Əsl VIP müştəri. 💡 Gizli dəyər: Customer 23 — $40,365 (11 sifariş, 57 ədəd) Az alır, baha alır. Sifariş başına $3,670 — top 5 içində ən yüksək. Ədəd başına isə $708 — lükslük/premium seqment alıcısı. </vt:lpstr>
      <vt:lpstr>Ümumi satılan: 4,955   Ümumi qaytarılan: 1,015   Orta qaytarılma: 20.5%  Home — 26% Orta göstəricidən 5.5 faiz bəndi yüksəkdir. Hər 4 Home məhsulundan biri qaytarılır. Ən çox qaytarılan kateqoriyadır, ölçü uyğunsuzluğu, keyfiyyət gözləntiləri və ya impuls alışlar səbəb ola bilər. Electronics — 21% Orta göstəricidən yuxarı, lakin Home qədər kritik deyil. Electronics-də hər qaytarılma yüksək dəyər itkisi deməkdir — faiz kiçik görünsə də, maliyyə təsiri böyükdür. Ən sabit kateqoriyalar: Books və Toys — 18% Hər ikisi ortadan 2.5 faiz bəndi aşağıdadır. Müştəri gözləntiləri bu kateqoriyalarda daha yaxşı qarşılanır. </vt:lpstr>
      <vt:lpstr>⚖️ Cash və Transfer praktiki olaraq bərabərdir: Cash 35.2%, Transfer 35.1% — aradakı fərq cəmi 1 sifariş. Heç biri dominant deyil. İki ödəniş üsulu eyni çəkidə dayanır. 💳 Card geri qalır — 29.7% Digər iki üsuldan ~5.4 faiz bəndi aşağıdadır. Kart istifadəsinin aşağı olması ya infrastruktur məhdudiyyətinə, ya komissiya xərclərinə, ya da müştəri seqmentinin xüsusiyyətlərinə işarə edir. 📱 Rəqəmsal ödənişlər üstünlük təşkil edir: Transfer + Card = 64.8% — müştərilərin əksəriyyəti nağdsız ödəniş edir. Lakin "rəqəmsal" seqmentin yarısı köhnə üsul olan bank transferidir. </vt:lpstr>
      <vt:lpstr>#1 Səbəb: Customer Dissatisfaction -39% (398) Ən böyük problem məhsulun özü deyil -müştərinin gözləntiləri qarşılanmır. Şəkil, təsvir, ölçü, keyfiyyət beklentisi uyğunsuzluğu. Məhsul səhifəsi optimallaşdırılsa, bu 39% endirilə bilər.  #2 Səbəb: Wrong Item - 36% (361) Bu tamamilə əməliyyat xətasıdır - müştəri başqa məhsul sifariş edib, başqası göndərilib. Anbar və fulfillment prosesinin problemidir. 100% önlənə bilər.  #3 Səbəb: Defective - 25% (256) Məhsul keyfiyyət problemi. 3 səbəb içində ən aşağı pay - yəni qaytarılmaların 75%-i məhsul keyfiyyəti ilə əlaqəsizdir. </vt:lpstr>
      <vt:lpstr>Bu 5 məhsul ümumi 1,015 qaytarılmanın 124-ünü (12.2%) təşkil edir. Yalnız bu 5 məhsulu düzəltmək bütün sistemin return rate-ini aşağı çəkər.  Product 82 — 58% Satılan hər 2 məhsuldan biri qaytarılır. Kateqoriya ortası 21% — Product 82 bundan +37 faiz bəndi yüksəkdir. Bu məhsul dərhal araşdırılmalı, mümkünsə assortimentdən çıxarılmalıdır.  Bütün 5 məhsul öz kateqoriya ortasından kəskin yüksəkdir</vt:lpstr>
      <vt:lpstr>Gəlir lideri: ORTA YASLI (31–50) Ən çox müştəri (64), ən yüksək satış ($928,407). Lakin 22% qaytarılma — bu seqmentin gəlirini eroziyaya uğradır. Prioritet: qaytarılmanı azalt.  Ən sərfəli seqment: QOCA (51–70) Ən yüksək mənfəət marjası — 23%. Ən yüksək orta sifariş dəyəri — $2,431. Az müştəri (53), amma hər müştəri daha çox qazandırır. Ən qiymətli seqment.  Gizli potensial: CAVAN (18–30) Ən aşağı qaytarılma: 16% — bütün qruplar içində ən sədaqətli alıcı. Lakin mənfəət marjası da ən aşağı: 16%. Ucuz məhsul alırlar — orta sifariş dəyəri $2,215 (digərlərindən ~$200 aşağı).  Hər 3 qrupda orta endirim ~$23.97 — tam bərabər. Yəni yaş seqmentinə görə heç bir fərqli qiymətləndirmə yoxdur. QOCA seqmenti daha az endirimlə eyni həcmdə alır — bu seqmentə endirim azaldılsa mənfəət artır.  CAVAN   → az qaytarır, az qazandırır QOCA    → çox qaytarır, çox qazandırır   ORTA    → hər şeyin ortasında, amma ən böyük kütlə</vt:lpstr>
      <vt:lpstr>Tövsiyələr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c59474</dc:creator>
  <cp:lastModifiedBy>c59474</cp:lastModifiedBy>
  <cp:revision>12</cp:revision>
  <dcterms:created xsi:type="dcterms:W3CDTF">2026-05-31T01:17:50Z</dcterms:created>
  <dcterms:modified xsi:type="dcterms:W3CDTF">2026-05-31T15:49:05Z</dcterms:modified>
</cp:coreProperties>
</file>